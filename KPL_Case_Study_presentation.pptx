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68" r:id="rId2"/>
    <p:sldId id="257" r:id="rId3"/>
    <p:sldId id="271" r:id="rId4"/>
    <p:sldId id="275" r:id="rId5"/>
    <p:sldId id="276" r:id="rId6"/>
    <p:sldId id="272" r:id="rId7"/>
    <p:sldId id="273" r:id="rId8"/>
    <p:sldId id="278" r:id="rId9"/>
    <p:sldId id="277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-437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Digital</c:v>
                </c:pt>
                <c:pt idx="1">
                  <c:v>Trade Promo</c:v>
                </c:pt>
                <c:pt idx="2">
                  <c:v>Consumer Promo</c:v>
                </c:pt>
                <c:pt idx="3">
                  <c:v>TV (GRP)</c:v>
                </c:pt>
                <c:pt idx="4">
                  <c:v>Newspaper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</c:v>
                </c:pt>
                <c:pt idx="1">
                  <c:v>1.83</c:v>
                </c:pt>
                <c:pt idx="2">
                  <c:v>1.1200000000000001</c:v>
                </c:pt>
                <c:pt idx="3">
                  <c:v>0.65</c:v>
                </c:pt>
                <c:pt idx="4">
                  <c:v>-0.42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51492224"/>
        <c:axId val="251501184"/>
      </c:barChart>
      <c:catAx>
        <c:axId val="251492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51501184"/>
        <c:crosses val="autoZero"/>
        <c:auto val="1"/>
        <c:lblAlgn val="ctr"/>
        <c:lblOffset val="100"/>
        <c:noMultiLvlLbl val="1"/>
      </c:catAx>
      <c:valAx>
        <c:axId val="25150118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51492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f0d06b5-fbd9-4d4b-a24c-b63e680ad6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Allocation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TV</c:v>
                </c:pt>
                <c:pt idx="1">
                  <c:v>Digital</c:v>
                </c:pt>
                <c:pt idx="2">
                  <c:v>Trade Promo</c:v>
                </c:pt>
                <c:pt idx="3">
                  <c:v>Consumer Promo</c:v>
                </c:pt>
                <c:pt idx="4">
                  <c:v>Newspaper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22</c:v>
                </c:pt>
                <c:pt idx="2">
                  <c:v>25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Recommended Allocation (%)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TV</c:v>
                </c:pt>
                <c:pt idx="1">
                  <c:v>Digital</c:v>
                </c:pt>
                <c:pt idx="2">
                  <c:v>Trade Promo</c:v>
                </c:pt>
                <c:pt idx="3">
                  <c:v>Consumer Promo</c:v>
                </c:pt>
                <c:pt idx="4">
                  <c:v>Newspaper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40</c:v>
                </c:pt>
                <c:pt idx="2">
                  <c:v>25</c:v>
                </c:pt>
                <c:pt idx="3">
                  <c:v>8</c:v>
                </c:pt>
                <c:pt idx="4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51938304"/>
        <c:axId val="251939840"/>
      </c:barChart>
      <c:catAx>
        <c:axId val="2519383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51939840"/>
        <c:crosses val="autoZero"/>
        <c:auto val="1"/>
        <c:lblAlgn val="ctr"/>
        <c:lblOffset val="100"/>
        <c:noMultiLvlLbl val="1"/>
      </c:catAx>
      <c:valAx>
        <c:axId val="2519398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51938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2176754-1a29-4b5a-8a7f-cf6a56f4282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16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20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731520" y="975360"/>
            <a:ext cx="10972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65" b="1" dirty="0">
                <a:solidFill>
                  <a:schemeClr val="bg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Marketing Mix Modelling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2097024"/>
            <a:ext cx="1036320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5" dirty="0">
                <a:solidFill>
                  <a:srgbClr val="BFDB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KPL Sales Data — OLS-Based MMM Analysis</a:t>
            </a:r>
            <a:endParaRPr lang="en-US" sz="2665" dirty="0"/>
          </a:p>
        </p:txBody>
      </p:sp>
      <p:sp>
        <p:nvSpPr>
          <p:cNvPr id="5" name="Shape 3"/>
          <p:cNvSpPr/>
          <p:nvPr/>
        </p:nvSpPr>
        <p:spPr>
          <a:xfrm>
            <a:off x="731520" y="2987040"/>
            <a:ext cx="5486400" cy="48768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731520" y="3230880"/>
            <a:ext cx="1097280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65" b="1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Objective:</a:t>
            </a:r>
            <a:r>
              <a:rPr lang="en-US" sz="1665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Derive Insights through EDA · Build OLS-Based MMM Model · Estimate Contributions &amp; ROI · Recommend Budget Allocation</a:t>
            </a:r>
            <a:endParaRPr lang="en-US" sz="1665" dirty="0"/>
          </a:p>
        </p:txBody>
      </p:sp>
      <p:sp>
        <p:nvSpPr>
          <p:cNvPr id="7" name="Shape 5"/>
          <p:cNvSpPr/>
          <p:nvPr/>
        </p:nvSpPr>
        <p:spPr>
          <a:xfrm>
            <a:off x="731520" y="4267200"/>
            <a:ext cx="3413760" cy="1828800"/>
          </a:xfrm>
          <a:prstGeom prst="rect">
            <a:avLst/>
          </a:prstGeom>
          <a:solidFill>
            <a:srgbClr val="2563EB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4328160"/>
            <a:ext cx="341376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3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Period</a:t>
            </a:r>
            <a:endParaRPr lang="en-US" sz="1335" dirty="0"/>
          </a:p>
        </p:txBody>
      </p:sp>
      <p:sp>
        <p:nvSpPr>
          <p:cNvPr id="9" name="Text 7"/>
          <p:cNvSpPr/>
          <p:nvPr/>
        </p:nvSpPr>
        <p:spPr>
          <a:xfrm>
            <a:off x="731520" y="4876800"/>
            <a:ext cx="34137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Jan 2019 –</a:t>
            </a:r>
            <a:endParaRPr lang="en-US" sz="2135" dirty="0"/>
          </a:p>
          <a:p>
            <a:pPr marL="0" indent="0" algn="ctr">
              <a:buNone/>
            </a:pPr>
            <a:r>
              <a:rPr lang="en-US" sz="2135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Dec 2022</a:t>
            </a:r>
            <a:endParaRPr lang="en-US" sz="2135" dirty="0"/>
          </a:p>
        </p:txBody>
      </p:sp>
      <p:sp>
        <p:nvSpPr>
          <p:cNvPr id="10" name="Shape 8"/>
          <p:cNvSpPr/>
          <p:nvPr/>
        </p:nvSpPr>
        <p:spPr>
          <a:xfrm>
            <a:off x="4511040" y="4267200"/>
            <a:ext cx="3413760" cy="1828800"/>
          </a:xfrm>
          <a:prstGeom prst="rect">
            <a:avLst/>
          </a:prstGeom>
          <a:solidFill>
            <a:srgbClr val="0891B2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4328160"/>
            <a:ext cx="341376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3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Observations</a:t>
            </a:r>
            <a:endParaRPr lang="en-US" sz="1335" dirty="0"/>
          </a:p>
        </p:txBody>
      </p:sp>
      <p:sp>
        <p:nvSpPr>
          <p:cNvPr id="12" name="Text 10"/>
          <p:cNvSpPr/>
          <p:nvPr/>
        </p:nvSpPr>
        <p:spPr>
          <a:xfrm>
            <a:off x="4511040" y="4876800"/>
            <a:ext cx="34137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48 Monthly</a:t>
            </a:r>
            <a:endParaRPr lang="en-US" sz="2135" dirty="0"/>
          </a:p>
          <a:p>
            <a:pPr marL="0" indent="0" algn="ctr">
              <a:buNone/>
            </a:pPr>
            <a:r>
              <a:rPr lang="en-US" sz="2135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Data Points</a:t>
            </a:r>
            <a:endParaRPr lang="en-US" sz="2135" dirty="0"/>
          </a:p>
        </p:txBody>
      </p:sp>
      <p:sp>
        <p:nvSpPr>
          <p:cNvPr id="13" name="Shape 11"/>
          <p:cNvSpPr/>
          <p:nvPr/>
        </p:nvSpPr>
        <p:spPr>
          <a:xfrm>
            <a:off x="8290560" y="4267200"/>
            <a:ext cx="3413760" cy="1828800"/>
          </a:xfrm>
          <a:prstGeom prst="rect">
            <a:avLst/>
          </a:prstGeom>
          <a:solidFill>
            <a:srgbClr val="7C3AED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90560" y="4328160"/>
            <a:ext cx="341376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3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Type</a:t>
            </a:r>
            <a:endParaRPr lang="en-US" sz="1335" dirty="0"/>
          </a:p>
        </p:txBody>
      </p:sp>
      <p:sp>
        <p:nvSpPr>
          <p:cNvPr id="15" name="Text 13"/>
          <p:cNvSpPr/>
          <p:nvPr/>
        </p:nvSpPr>
        <p:spPr>
          <a:xfrm>
            <a:off x="8290560" y="4876800"/>
            <a:ext cx="34137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OLS with</a:t>
            </a:r>
            <a:endParaRPr lang="en-US" sz="2135" dirty="0"/>
          </a:p>
          <a:p>
            <a:pPr marL="0" indent="0" algn="ctr">
              <a:buNone/>
            </a:pPr>
            <a:r>
              <a:rPr lang="en-US" sz="2135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Adstock</a:t>
            </a:r>
            <a:endParaRPr lang="en-US" sz="2135" dirty="0"/>
          </a:p>
        </p:txBody>
      </p:sp>
      <p:sp>
        <p:nvSpPr>
          <p:cNvPr id="16" name="Text 14"/>
          <p:cNvSpPr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35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| Fractal AI Assessment Format</a:t>
            </a:r>
            <a:endParaRPr lang="en-US" sz="133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Analytical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— Word Document Brief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15568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35204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52044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The Brief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2461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Extensive EDA from the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given sales dataset</a:t>
            </a:r>
            <a:endParaRPr lang="en-US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OLS-based MMM</a:t>
            </a:r>
            <a:endParaRPr lang="en-US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Derive contributions &amp; ROIs</a:t>
            </a:r>
            <a:endParaRPr lang="en-US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 budget allocation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051560"/>
            <a:ext cx="35204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051560"/>
            <a:ext cx="35204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05156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 Methodology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1645920"/>
            <a:ext cx="32461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Adstock transformation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(TV: 0.5, Digital: 0.4,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Trade: 0.2–0.3)</a:t>
            </a:r>
            <a:endParaRPr lang="en-US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transforms (log1p)</a:t>
            </a:r>
            <a:endParaRPr lang="en-US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OLS regression with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festive &amp; COVID dummies</a:t>
            </a:r>
            <a:endParaRPr lang="en-US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Counterfactual contributions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051560"/>
            <a:ext cx="35204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051560"/>
            <a:ext cx="3520440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05156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Outputs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1645920"/>
            <a:ext cx="32461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Dashboard</a:t>
            </a:r>
            <a:endParaRPr lang="en-US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4-model comparison</a:t>
            </a:r>
            <a:endParaRPr lang="en-US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GRP-based MMM</a:t>
            </a:r>
            <a:endParaRPr lang="en-US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 ROI ranking</a:t>
            </a:r>
            <a:endParaRPr lang="en-US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Budget reallocation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recommendation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5166360"/>
            <a:ext cx="11567160" cy="137160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525780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Python Code — Data pipeline summary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5559552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df['digital_spends_mn'] = youtube + fb_ig + google_display + jio + hotstar + whatsapp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df['tv_grp_adstock'] = adstock(df['tv_total_grp'], decay=0.5)   # GRP-based (not spend)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df['log_digital_adstock'] = np.log1p(df['digital_adstock'])   # log-transform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 = OLS(Y, X).fit()   # Final: 9 features, R²=0.935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68" y="243840"/>
            <a:ext cx="10972800" cy="7315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3700" b="1" dirty="0" smtClean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</a:t>
            </a:r>
            <a:r>
              <a:rPr lang="en-US" sz="3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2480" y="1706880"/>
            <a:ext cx="6705600" cy="68275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2480" y="2462784"/>
            <a:ext cx="6705600" cy="68275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2480" y="3218688"/>
            <a:ext cx="6705600" cy="68275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0" y="1288096"/>
            <a:ext cx="3778370" cy="291020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24800" y="1121664"/>
            <a:ext cx="3962400" cy="51206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700" b="1" dirty="0">
                <a:solidFill>
                  <a:srgbClr val="1E3A8A"/>
                </a:solidFill>
              </a:rPr>
              <a:t>Dataset Profile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0" y="1706880"/>
            <a:ext cx="134112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b="1" dirty="0">
                <a:solidFill>
                  <a:srgbClr val="1E3A8A"/>
                </a:solidFill>
              </a:rPr>
              <a:t>Period: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2224" y="1706880"/>
            <a:ext cx="231648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Jan 2019 – Dec 2022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2133600"/>
            <a:ext cx="134112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b="1" dirty="0">
                <a:solidFill>
                  <a:srgbClr val="1E3A8A"/>
                </a:solidFill>
              </a:rPr>
              <a:t>Frequency: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2224" y="2133600"/>
            <a:ext cx="231648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Monthly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2560320"/>
            <a:ext cx="134112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b="1" dirty="0">
                <a:solidFill>
                  <a:srgbClr val="1E3A8A"/>
                </a:solidFill>
              </a:rPr>
              <a:t>Observations: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2224" y="2560320"/>
            <a:ext cx="231648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48 data points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2987040"/>
            <a:ext cx="134112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b="1" dirty="0">
                <a:solidFill>
                  <a:srgbClr val="1E3A8A"/>
                </a:solidFill>
              </a:rPr>
              <a:t>Source File: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2224" y="2987040"/>
            <a:ext cx="231648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kpl_sales_data.py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3413760"/>
            <a:ext cx="134112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b="1" dirty="0">
                <a:solidFill>
                  <a:srgbClr val="1E3A8A"/>
                </a:solidFill>
              </a:rPr>
              <a:t>Model: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2224" y="3413760"/>
            <a:ext cx="231648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OLS Regression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3840480"/>
            <a:ext cx="134112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b="1" dirty="0">
                <a:solidFill>
                  <a:srgbClr val="1E3A8A"/>
                </a:solidFill>
              </a:rPr>
              <a:t>Channels: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12224" y="3840480"/>
            <a:ext cx="231648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TV, Newspaper, Digital, Trade &amp; Consumer Promo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268" y="1121664"/>
            <a:ext cx="10972800" cy="4632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900" b="1" dirty="0">
                <a:solidFill>
                  <a:srgbClr val="1E3A8A"/>
                </a:solidFill>
              </a:rPr>
              <a:t>Variables Used in Model</a:t>
            </a:r>
            <a:endParaRPr lang="en-US" sz="1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350064"/>
              </p:ext>
            </p:extLst>
          </p:nvPr>
        </p:nvGraphicFramePr>
        <p:xfrm>
          <a:off x="109268" y="1737360"/>
          <a:ext cx="7815532" cy="3835306"/>
        </p:xfrm>
        <a:graphic>
          <a:graphicData uri="http://schemas.openxmlformats.org/drawingml/2006/table">
            <a:tbl>
              <a:tblPr/>
              <a:tblGrid>
                <a:gridCol w="1943322"/>
                <a:gridCol w="5872210"/>
              </a:tblGrid>
              <a:tr h="505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505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 (Y)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kpi_val_sales_mn  —  Monthly Revenue (₹ Mn)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Spends, Newspaper Spends, Digital Spends (YouTube, FB/IG, Google, Jio, Hotstar, WhatsApp)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Promo Spends, Consumer Promo Spends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Distribution Max (wtd_dist_max)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COVID-19 Dummy (Mar–Jun 2020), Linear Trend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 TV Spends (used in early models)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51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9456"/>
            <a:ext cx="11216640" cy="70713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35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&amp; Adstock Transformation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547360" cy="1219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85344" cy="1219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92480" y="1170432"/>
            <a:ext cx="5120640" cy="414528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E3A8A"/>
                </a:solidFill>
              </a:rPr>
              <a:t>Adstock Transformation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2480" y="1609344"/>
            <a:ext cx="5120640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Captures carry-over effect of advertising. Each week's impact decays geometrically. Applied to TV (decay=0.6), Newspaper (0.4), Digital (0.3), Trade Promo (0.3).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38400"/>
            <a:ext cx="5547360" cy="1219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438400"/>
            <a:ext cx="85344" cy="1219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92480" y="2511552"/>
            <a:ext cx="5120640" cy="414528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E3A8A"/>
                </a:solidFill>
              </a:rPr>
              <a:t>Log Transformation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2480" y="2950464"/>
            <a:ext cx="5120640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Applied to all media variables (log1p) to model diminishing returns — each extra ₹ of spend yields less marginal sales lift.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79520"/>
            <a:ext cx="5547360" cy="1219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779520"/>
            <a:ext cx="85344" cy="1219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792480" y="3852672"/>
            <a:ext cx="5120640" cy="414528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E3A8A"/>
                </a:solidFill>
              </a:rPr>
              <a:t>COVID-19 Dummy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2480" y="4291584"/>
            <a:ext cx="5120640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Binary flag = 1 for Mar–Jun 2020. Captures the exogenous demand shock and prevents model from mis-attributing the dip to marketing variables.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3984" y="5139618"/>
            <a:ext cx="5547360" cy="1219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5120640"/>
            <a:ext cx="85344" cy="1219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92480" y="5193792"/>
            <a:ext cx="5120640" cy="414528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E3A8A"/>
                </a:solidFill>
              </a:rPr>
              <a:t>Linear Trend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2480" y="5632704"/>
            <a:ext cx="5120640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A simple integer counter (0,1,2,...,47) captures underlying long-term growth beyond media-driven effects.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39840" y="1072896"/>
            <a:ext cx="5547360" cy="56083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39840" y="1072896"/>
            <a:ext cx="5547360" cy="4632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400" b="1" dirty="0">
                <a:solidFill>
                  <a:srgbClr val="94A3B8"/>
                </a:solidFill>
              </a:rPr>
              <a:t>Python Code — Feature Engineering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1609344"/>
            <a:ext cx="5413248" cy="49987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6616459" y="1536192"/>
            <a:ext cx="4787661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digital_spends_mn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= (df['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youtube_spends_mn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+ 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fb_ig_spends_mn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+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                            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google_display_spends_mn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+ 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jio_spends_mn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+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                            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hotstar_spends_mn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+ 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whatsapp_spends_mn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'])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/>
            </a:r>
            <a:br>
              <a:rPr lang="en-IN" sz="105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competition_tv_spends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= df['competition1_tv_total_spends_mn'] + df['competition2_tv_total_spends_mn']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competition_newspaper_spends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= df['competition1_newspaper_spends_mn'] + df['competition2_newspaper_spends_mn']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#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Adstock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 transformation (carry-over effect of advertising)</a:t>
            </a:r>
          </a:p>
          <a:p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def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adstock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(series, decay=0.5):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    result =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np.zeros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len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(series))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    result[0] =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series.iloc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[0]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    for i in range(1,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len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(series)):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        result[i] =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series.iloc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[i] + decay * result[i-1]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    return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pd.Series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(result, index=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series.index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)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# Apply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adstock</a:t>
            </a:r>
            <a:endParaRPr lang="en-IN" sz="105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tv_adstock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=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adstock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tv_total_spends_mn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'], decay=0.6)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newspaper_adstock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=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adstock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newspaper_spends_mn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'], decay=0.4)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digital_adstock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=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adstock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digital_spends_mn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'], decay=0.3)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trade_promo_adstock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 =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adstock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trade_promo_spends_mn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'], decay=0.3)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# Log transformations to handle non-linearity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for col in ['tv_adstock','newspaper_adstock','digital_adstock','trade_promo_adstock',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            'consumer_promo_spends_mn','wtd_dist_max','competition_tv_spends']: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    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df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[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f'log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_{col}'] = np.log1p(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df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[col])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/>
            </a:r>
            <a:br>
              <a:rPr lang="en-IN" sz="105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Y = df['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kpi_val_sales_mn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']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print("\n=== DEPENDENT VARIABLE STATS ===")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print(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Y.describe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())</a:t>
            </a:r>
          </a:p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print("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Skewness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:", round(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Y.skew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(), 3), "| Kurtosis:", round(</a:t>
            </a:r>
            <a:r>
              <a:rPr lang="en-IN" sz="1050" dirty="0" err="1">
                <a:solidFill>
                  <a:schemeClr val="bg1">
                    <a:lumMod val="95000"/>
                  </a:schemeClr>
                </a:solidFill>
              </a:rPr>
              <a:t>Y.kurt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</a:rPr>
              <a:t>(), 3))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318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4535" y="156078"/>
            <a:ext cx="78085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4536" y="956513"/>
            <a:ext cx="425449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/>
              <a:t># ─── 3. EDA VISUALIZATIONS ─────────────────────────────────────────────────────</a:t>
            </a:r>
          </a:p>
          <a:p>
            <a:r>
              <a:rPr lang="en-IN" sz="800" dirty="0"/>
              <a:t>fig = </a:t>
            </a:r>
            <a:r>
              <a:rPr lang="en-IN" sz="800" dirty="0" err="1"/>
              <a:t>plt.figure</a:t>
            </a:r>
            <a:r>
              <a:rPr lang="en-IN" sz="800" dirty="0"/>
              <a:t>(</a:t>
            </a:r>
            <a:r>
              <a:rPr lang="en-IN" sz="800" dirty="0" err="1"/>
              <a:t>figsize</a:t>
            </a:r>
            <a:r>
              <a:rPr lang="en-IN" sz="800" dirty="0"/>
              <a:t>=(20, 24))</a:t>
            </a:r>
          </a:p>
          <a:p>
            <a:r>
              <a:rPr lang="en-IN" sz="800" dirty="0" err="1"/>
              <a:t>gs</a:t>
            </a:r>
            <a:r>
              <a:rPr lang="en-IN" sz="800" dirty="0"/>
              <a:t> = </a:t>
            </a:r>
            <a:r>
              <a:rPr lang="en-IN" sz="800" dirty="0" err="1"/>
              <a:t>gridspec.GridSpec</a:t>
            </a:r>
            <a:r>
              <a:rPr lang="en-IN" sz="800" dirty="0"/>
              <a:t>(4, 3, figure=fig, </a:t>
            </a:r>
            <a:r>
              <a:rPr lang="en-IN" sz="800" dirty="0" err="1"/>
              <a:t>hspace</a:t>
            </a:r>
            <a:r>
              <a:rPr lang="en-IN" sz="800" dirty="0"/>
              <a:t>=0.45, </a:t>
            </a:r>
            <a:r>
              <a:rPr lang="en-IN" sz="800" dirty="0" err="1"/>
              <a:t>wspace</a:t>
            </a:r>
            <a:r>
              <a:rPr lang="en-IN" sz="800" dirty="0"/>
              <a:t>=0.35)</a:t>
            </a:r>
          </a:p>
          <a:p>
            <a:r>
              <a:rPr lang="en-IN" sz="800" dirty="0"/>
              <a:t># 3.1 Sales over time</a:t>
            </a:r>
          </a:p>
          <a:p>
            <a:r>
              <a:rPr lang="en-IN" sz="800" dirty="0"/>
              <a:t>ax1 = </a:t>
            </a:r>
            <a:r>
              <a:rPr lang="en-IN" sz="800" dirty="0" err="1"/>
              <a:t>fig.add_subplot</a:t>
            </a:r>
            <a:r>
              <a:rPr lang="en-IN" sz="800" dirty="0"/>
              <a:t>(</a:t>
            </a:r>
            <a:r>
              <a:rPr lang="en-IN" sz="800" dirty="0" err="1"/>
              <a:t>gs</a:t>
            </a:r>
            <a:r>
              <a:rPr lang="en-IN" sz="800" dirty="0"/>
              <a:t>[0, :2])</a:t>
            </a:r>
          </a:p>
          <a:p>
            <a:r>
              <a:rPr lang="en-IN" sz="800" dirty="0"/>
              <a:t>ax1.plot(df['date'], df['</a:t>
            </a:r>
            <a:r>
              <a:rPr lang="en-IN" sz="800" dirty="0" err="1"/>
              <a:t>kpi_val_sales_mn</a:t>
            </a:r>
            <a:r>
              <a:rPr lang="en-IN" sz="800" dirty="0"/>
              <a:t>'], </a:t>
            </a:r>
            <a:r>
              <a:rPr lang="en-IN" sz="800" dirty="0" err="1"/>
              <a:t>color</a:t>
            </a:r>
            <a:r>
              <a:rPr lang="en-IN" sz="800" dirty="0"/>
              <a:t>='#2563EB', </a:t>
            </a:r>
            <a:r>
              <a:rPr lang="en-IN" sz="800" dirty="0" err="1"/>
              <a:t>linewidth</a:t>
            </a:r>
            <a:r>
              <a:rPr lang="en-IN" sz="800" dirty="0"/>
              <a:t>=2.5, marker='o', </a:t>
            </a:r>
            <a:r>
              <a:rPr lang="en-IN" sz="800" dirty="0" err="1"/>
              <a:t>markersize</a:t>
            </a:r>
            <a:r>
              <a:rPr lang="en-IN" sz="800" dirty="0"/>
              <a:t>=4)</a:t>
            </a:r>
          </a:p>
          <a:p>
            <a:r>
              <a:rPr lang="en-IN" sz="800" dirty="0"/>
              <a:t>ax1.fill_between(df['date'], df['</a:t>
            </a:r>
            <a:r>
              <a:rPr lang="en-IN" sz="800" dirty="0" err="1"/>
              <a:t>kpi_val_sales_mn</a:t>
            </a:r>
            <a:r>
              <a:rPr lang="en-IN" sz="800" dirty="0"/>
              <a:t>'], alpha=0.15, </a:t>
            </a:r>
            <a:r>
              <a:rPr lang="en-IN" sz="800" dirty="0" err="1"/>
              <a:t>color</a:t>
            </a:r>
            <a:r>
              <a:rPr lang="en-IN" sz="800" dirty="0"/>
              <a:t>='#2563EB')</a:t>
            </a:r>
          </a:p>
          <a:p>
            <a:r>
              <a:rPr lang="en-IN" sz="800" dirty="0"/>
              <a:t>ax1.set_title('Monthly Sales (₹ </a:t>
            </a:r>
            <a:r>
              <a:rPr lang="en-IN" sz="800" dirty="0" err="1"/>
              <a:t>Mn</a:t>
            </a:r>
            <a:r>
              <a:rPr lang="en-IN" sz="800" dirty="0"/>
              <a:t>) — Jan 2019 to Dec 2022', </a:t>
            </a:r>
            <a:r>
              <a:rPr lang="en-IN" sz="800" dirty="0" err="1"/>
              <a:t>fontsize</a:t>
            </a:r>
            <a:r>
              <a:rPr lang="en-IN" sz="800" dirty="0"/>
              <a:t>=13, </a:t>
            </a:r>
            <a:r>
              <a:rPr lang="en-IN" sz="800" dirty="0" err="1"/>
              <a:t>fontweight</a:t>
            </a:r>
            <a:r>
              <a:rPr lang="en-IN" sz="800" dirty="0"/>
              <a:t>='bold')</a:t>
            </a:r>
          </a:p>
          <a:p>
            <a:r>
              <a:rPr lang="en-IN" sz="800" dirty="0"/>
              <a:t>ax1.set_xlabel('Date'); ax1.set_ylabel('Sales (₹ </a:t>
            </a:r>
            <a:r>
              <a:rPr lang="en-IN" sz="800" dirty="0" err="1"/>
              <a:t>Mn</a:t>
            </a:r>
            <a:r>
              <a:rPr lang="en-IN" sz="800" dirty="0"/>
              <a:t>)')</a:t>
            </a:r>
          </a:p>
          <a:p>
            <a:r>
              <a:rPr lang="en-IN" sz="800" dirty="0"/>
              <a:t>ax1.axvspan(</a:t>
            </a:r>
            <a:r>
              <a:rPr lang="en-IN" sz="800" dirty="0" err="1"/>
              <a:t>pd.Timestamp</a:t>
            </a:r>
            <a:r>
              <a:rPr lang="en-IN" sz="800" dirty="0"/>
              <a:t>('2020-03-01'), </a:t>
            </a:r>
            <a:r>
              <a:rPr lang="en-IN" sz="800" dirty="0" err="1"/>
              <a:t>pd.Timestamp</a:t>
            </a:r>
            <a:r>
              <a:rPr lang="en-IN" sz="800" dirty="0"/>
              <a:t>('2020-06-01'), alpha=0.2, </a:t>
            </a:r>
            <a:r>
              <a:rPr lang="en-IN" sz="800" dirty="0" err="1"/>
              <a:t>color</a:t>
            </a:r>
            <a:r>
              <a:rPr lang="en-IN" sz="800" dirty="0"/>
              <a:t>='red', label='COVID Shock')</a:t>
            </a:r>
          </a:p>
          <a:p>
            <a:r>
              <a:rPr lang="en-IN" sz="800" dirty="0"/>
              <a:t>ax1.legend(</a:t>
            </a:r>
            <a:r>
              <a:rPr lang="en-IN" sz="800" dirty="0" err="1"/>
              <a:t>fontsize</a:t>
            </a:r>
            <a:r>
              <a:rPr lang="en-IN" sz="800" dirty="0"/>
              <a:t>=9)</a:t>
            </a:r>
          </a:p>
          <a:p>
            <a:r>
              <a:rPr lang="en-IN" sz="800" dirty="0"/>
              <a:t>ax1.grid(axis='y', alpha=0.3)</a:t>
            </a:r>
          </a:p>
          <a:p>
            <a:r>
              <a:rPr lang="en-IN" sz="800" dirty="0"/>
              <a:t># 3.2 Sales distribution</a:t>
            </a:r>
          </a:p>
          <a:p>
            <a:r>
              <a:rPr lang="en-IN" sz="800" dirty="0"/>
              <a:t>ax2 = </a:t>
            </a:r>
            <a:r>
              <a:rPr lang="en-IN" sz="800" dirty="0" err="1"/>
              <a:t>fig.add_subplot</a:t>
            </a:r>
            <a:r>
              <a:rPr lang="en-IN" sz="800" dirty="0"/>
              <a:t>(</a:t>
            </a:r>
            <a:r>
              <a:rPr lang="en-IN" sz="800" dirty="0" err="1"/>
              <a:t>gs</a:t>
            </a:r>
            <a:r>
              <a:rPr lang="en-IN" sz="800" dirty="0"/>
              <a:t>[0, 2])</a:t>
            </a:r>
          </a:p>
          <a:p>
            <a:r>
              <a:rPr lang="en-IN" sz="800" dirty="0"/>
              <a:t>ax2.hist(df['</a:t>
            </a:r>
            <a:r>
              <a:rPr lang="en-IN" sz="800" dirty="0" err="1"/>
              <a:t>kpi_val_sales_mn</a:t>
            </a:r>
            <a:r>
              <a:rPr lang="en-IN" sz="800" dirty="0"/>
              <a:t>'], bins=15, </a:t>
            </a:r>
            <a:r>
              <a:rPr lang="en-IN" sz="800" dirty="0" err="1"/>
              <a:t>color</a:t>
            </a:r>
            <a:r>
              <a:rPr lang="en-IN" sz="800" dirty="0"/>
              <a:t>='#2563EB', </a:t>
            </a:r>
            <a:r>
              <a:rPr lang="en-IN" sz="800" dirty="0" err="1"/>
              <a:t>edgecolor</a:t>
            </a:r>
            <a:r>
              <a:rPr lang="en-IN" sz="800" dirty="0"/>
              <a:t>='white', alpha=0.8)</a:t>
            </a:r>
          </a:p>
          <a:p>
            <a:r>
              <a:rPr lang="en-IN" sz="800" dirty="0"/>
              <a:t>ax2.set_title('Sales Distribution', </a:t>
            </a:r>
            <a:r>
              <a:rPr lang="en-IN" sz="800" dirty="0" err="1"/>
              <a:t>fontsize</a:t>
            </a:r>
            <a:r>
              <a:rPr lang="en-IN" sz="800" dirty="0"/>
              <a:t>=13, </a:t>
            </a:r>
            <a:r>
              <a:rPr lang="en-IN" sz="800" dirty="0" err="1"/>
              <a:t>fontweight</a:t>
            </a:r>
            <a:r>
              <a:rPr lang="en-IN" sz="800" dirty="0"/>
              <a:t>='bold')</a:t>
            </a:r>
          </a:p>
          <a:p>
            <a:r>
              <a:rPr lang="en-IN" sz="800" dirty="0"/>
              <a:t>ax2.set_xlabel('Sales (₹ </a:t>
            </a:r>
            <a:r>
              <a:rPr lang="en-IN" sz="800" dirty="0" err="1"/>
              <a:t>Mn</a:t>
            </a:r>
            <a:r>
              <a:rPr lang="en-IN" sz="800" dirty="0"/>
              <a:t>)'); ax2.set_ylabel('Frequency')</a:t>
            </a:r>
          </a:p>
          <a:p>
            <a:r>
              <a:rPr lang="en-IN" sz="800" dirty="0"/>
              <a:t>ax2.grid(axis='y', alpha=0.3)</a:t>
            </a:r>
          </a:p>
          <a:p>
            <a:r>
              <a:rPr lang="en-IN" sz="800" dirty="0"/>
              <a:t># 3.3 Media spend breakdown by channel</a:t>
            </a:r>
          </a:p>
          <a:p>
            <a:r>
              <a:rPr lang="en-IN" sz="800" dirty="0" err="1"/>
              <a:t>media_cols</a:t>
            </a:r>
            <a:r>
              <a:rPr lang="en-IN" sz="800" dirty="0"/>
              <a:t> = ['tv_total_spends_</a:t>
            </a:r>
            <a:r>
              <a:rPr lang="en-IN" sz="800" dirty="0" err="1"/>
              <a:t>mn</a:t>
            </a:r>
            <a:r>
              <a:rPr lang="en-IN" sz="800" dirty="0"/>
              <a:t>','newspaper_spends_</a:t>
            </a:r>
            <a:r>
              <a:rPr lang="en-IN" sz="800" dirty="0" err="1"/>
              <a:t>mn</a:t>
            </a:r>
            <a:r>
              <a:rPr lang="en-IN" sz="800" dirty="0"/>
              <a:t>','</a:t>
            </a:r>
            <a:r>
              <a:rPr lang="en-IN" sz="800" dirty="0" err="1"/>
              <a:t>digital_spends_mn</a:t>
            </a:r>
            <a:r>
              <a:rPr lang="en-IN" sz="800" dirty="0"/>
              <a:t>',</a:t>
            </a:r>
          </a:p>
          <a:p>
            <a:r>
              <a:rPr lang="en-IN" sz="800" dirty="0"/>
              <a:t>              'trade_promo_spends_</a:t>
            </a:r>
            <a:r>
              <a:rPr lang="en-IN" sz="800" dirty="0" err="1"/>
              <a:t>mn</a:t>
            </a:r>
            <a:r>
              <a:rPr lang="en-IN" sz="800" dirty="0"/>
              <a:t>','</a:t>
            </a:r>
            <a:r>
              <a:rPr lang="en-IN" sz="800" dirty="0" err="1"/>
              <a:t>consumer_promo_spends_mn</a:t>
            </a:r>
            <a:r>
              <a:rPr lang="en-IN" sz="800" dirty="0"/>
              <a:t>']</a:t>
            </a:r>
          </a:p>
          <a:p>
            <a:r>
              <a:rPr lang="en-IN" sz="800" dirty="0" err="1"/>
              <a:t>media_labels</a:t>
            </a:r>
            <a:r>
              <a:rPr lang="en-IN" sz="800" dirty="0"/>
              <a:t> = ['</a:t>
            </a:r>
            <a:r>
              <a:rPr lang="en-IN" sz="800" dirty="0" err="1"/>
              <a:t>TV','Newspaper','Digital','Trade</a:t>
            </a:r>
            <a:r>
              <a:rPr lang="en-IN" sz="800" dirty="0"/>
              <a:t> </a:t>
            </a:r>
            <a:r>
              <a:rPr lang="en-IN" sz="800" dirty="0" err="1"/>
              <a:t>Promo','Consumer</a:t>
            </a:r>
            <a:r>
              <a:rPr lang="en-IN" sz="800" dirty="0"/>
              <a:t> Promo']</a:t>
            </a:r>
          </a:p>
          <a:p>
            <a:r>
              <a:rPr lang="en-IN" sz="800" dirty="0" err="1"/>
              <a:t>media_totals</a:t>
            </a:r>
            <a:r>
              <a:rPr lang="en-IN" sz="800" dirty="0"/>
              <a:t> = [df[c].sum() for c in </a:t>
            </a:r>
            <a:r>
              <a:rPr lang="en-IN" sz="800" dirty="0" err="1"/>
              <a:t>media_cols</a:t>
            </a:r>
            <a:r>
              <a:rPr lang="en-IN" sz="800" dirty="0"/>
              <a:t>]</a:t>
            </a:r>
          </a:p>
          <a:p>
            <a:r>
              <a:rPr lang="en-IN" sz="800" dirty="0"/>
              <a:t>ax3 = </a:t>
            </a:r>
            <a:r>
              <a:rPr lang="en-IN" sz="800" dirty="0" err="1"/>
              <a:t>fig.add_subplot</a:t>
            </a:r>
            <a:r>
              <a:rPr lang="en-IN" sz="800" dirty="0"/>
              <a:t>(</a:t>
            </a:r>
            <a:r>
              <a:rPr lang="en-IN" sz="800" dirty="0" err="1"/>
              <a:t>gs</a:t>
            </a:r>
            <a:r>
              <a:rPr lang="en-IN" sz="800" dirty="0"/>
              <a:t>[1, 0])</a:t>
            </a:r>
          </a:p>
          <a:p>
            <a:r>
              <a:rPr lang="en-IN" sz="800" dirty="0"/>
              <a:t>wedges, texts, </a:t>
            </a:r>
            <a:r>
              <a:rPr lang="en-IN" sz="800" dirty="0" err="1"/>
              <a:t>autotexts</a:t>
            </a:r>
            <a:r>
              <a:rPr lang="en-IN" sz="800" dirty="0"/>
              <a:t> = ax3.pie(</a:t>
            </a:r>
            <a:r>
              <a:rPr lang="en-IN" sz="800" dirty="0" err="1"/>
              <a:t>media_totals</a:t>
            </a:r>
            <a:r>
              <a:rPr lang="en-IN" sz="800" dirty="0"/>
              <a:t>, labels=</a:t>
            </a:r>
            <a:r>
              <a:rPr lang="en-IN" sz="800" dirty="0" err="1"/>
              <a:t>media_labels</a:t>
            </a:r>
            <a:r>
              <a:rPr lang="en-IN" sz="800" dirty="0"/>
              <a:t>, </a:t>
            </a:r>
            <a:r>
              <a:rPr lang="en-IN" sz="800" dirty="0" err="1"/>
              <a:t>autopct</a:t>
            </a:r>
            <a:r>
              <a:rPr lang="en-IN" sz="800" dirty="0"/>
              <a:t>='%1.1f%%',</a:t>
            </a:r>
          </a:p>
          <a:p>
            <a:r>
              <a:rPr lang="en-IN" sz="800" dirty="0"/>
              <a:t>                                    </a:t>
            </a:r>
            <a:r>
              <a:rPr lang="en-IN" sz="800" dirty="0" err="1"/>
              <a:t>colors</a:t>
            </a:r>
            <a:r>
              <a:rPr lang="en-IN" sz="800" dirty="0"/>
              <a:t>=COLORS[:5], </a:t>
            </a:r>
            <a:r>
              <a:rPr lang="en-IN" sz="800" dirty="0" err="1"/>
              <a:t>startangle</a:t>
            </a:r>
            <a:r>
              <a:rPr lang="en-IN" sz="800" dirty="0"/>
              <a:t>=90)</a:t>
            </a:r>
          </a:p>
          <a:p>
            <a:r>
              <a:rPr lang="en-IN" sz="800" dirty="0"/>
              <a:t>ax3.set_title('Total Spend Mix', </a:t>
            </a:r>
            <a:r>
              <a:rPr lang="en-IN" sz="800" dirty="0" err="1"/>
              <a:t>fontsize</a:t>
            </a:r>
            <a:r>
              <a:rPr lang="en-IN" sz="800" dirty="0"/>
              <a:t>=13, </a:t>
            </a:r>
            <a:r>
              <a:rPr lang="en-IN" sz="800" dirty="0" err="1"/>
              <a:t>fontweight</a:t>
            </a:r>
            <a:r>
              <a:rPr lang="en-IN" sz="800" dirty="0"/>
              <a:t>='bold')</a:t>
            </a:r>
          </a:p>
          <a:p>
            <a:r>
              <a:rPr lang="en-IN" sz="800" dirty="0"/>
              <a:t># 3.4 Monthly media spends stacked</a:t>
            </a:r>
          </a:p>
          <a:p>
            <a:r>
              <a:rPr lang="en-IN" sz="800" dirty="0"/>
              <a:t>ax4 = </a:t>
            </a:r>
            <a:r>
              <a:rPr lang="en-IN" sz="800" dirty="0" err="1"/>
              <a:t>fig.add_subplot</a:t>
            </a:r>
            <a:r>
              <a:rPr lang="en-IN" sz="800" dirty="0"/>
              <a:t>(</a:t>
            </a:r>
            <a:r>
              <a:rPr lang="en-IN" sz="800" dirty="0" err="1"/>
              <a:t>gs</a:t>
            </a:r>
            <a:r>
              <a:rPr lang="en-IN" sz="800" dirty="0"/>
              <a:t>[1, 1:])</a:t>
            </a:r>
          </a:p>
          <a:p>
            <a:r>
              <a:rPr lang="en-IN" sz="800" dirty="0"/>
              <a:t>bottom = </a:t>
            </a:r>
            <a:r>
              <a:rPr lang="en-IN" sz="800" dirty="0" err="1"/>
              <a:t>np.zeros</a:t>
            </a:r>
            <a:r>
              <a:rPr lang="en-IN" sz="800" dirty="0"/>
              <a:t>(</a:t>
            </a:r>
            <a:r>
              <a:rPr lang="en-IN" sz="800" dirty="0" err="1"/>
              <a:t>len</a:t>
            </a:r>
            <a:r>
              <a:rPr lang="en-IN" sz="800" dirty="0"/>
              <a:t>(df))</a:t>
            </a:r>
          </a:p>
          <a:p>
            <a:r>
              <a:rPr lang="en-IN" sz="800" dirty="0"/>
              <a:t>for i, (col, label) in enumerate(zip(</a:t>
            </a:r>
            <a:r>
              <a:rPr lang="en-IN" sz="800" dirty="0" err="1"/>
              <a:t>media_cols</a:t>
            </a:r>
            <a:r>
              <a:rPr lang="en-IN" sz="800" dirty="0"/>
              <a:t>, </a:t>
            </a:r>
            <a:r>
              <a:rPr lang="en-IN" sz="800" dirty="0" err="1"/>
              <a:t>media_labels</a:t>
            </a:r>
            <a:r>
              <a:rPr lang="en-IN" sz="800" dirty="0"/>
              <a:t>)):</a:t>
            </a:r>
          </a:p>
          <a:p>
            <a:r>
              <a:rPr lang="en-IN" sz="800" dirty="0"/>
              <a:t>    ax4.bar(df['date'], df[col], bottom=bottom, label=label, </a:t>
            </a:r>
            <a:r>
              <a:rPr lang="en-IN" sz="800" dirty="0" err="1"/>
              <a:t>color</a:t>
            </a:r>
            <a:r>
              <a:rPr lang="en-IN" sz="800" dirty="0"/>
              <a:t>=COLORS[i], alpha=0.85, width=20)</a:t>
            </a:r>
          </a:p>
          <a:p>
            <a:r>
              <a:rPr lang="en-IN" sz="800" dirty="0"/>
              <a:t>    bottom += df[col].values</a:t>
            </a:r>
          </a:p>
          <a:p>
            <a:r>
              <a:rPr lang="en-IN" sz="800" dirty="0"/>
              <a:t>ax4.set_title('Monthly Media Spend Stack (₹ </a:t>
            </a:r>
            <a:r>
              <a:rPr lang="en-IN" sz="800" dirty="0" err="1"/>
              <a:t>Mn</a:t>
            </a:r>
            <a:r>
              <a:rPr lang="en-IN" sz="800" dirty="0"/>
              <a:t>)', </a:t>
            </a:r>
            <a:r>
              <a:rPr lang="en-IN" sz="800" dirty="0" err="1"/>
              <a:t>fontsize</a:t>
            </a:r>
            <a:r>
              <a:rPr lang="en-IN" sz="800" dirty="0"/>
              <a:t>=13, </a:t>
            </a:r>
            <a:r>
              <a:rPr lang="en-IN" sz="800" dirty="0" err="1"/>
              <a:t>fontweight</a:t>
            </a:r>
            <a:r>
              <a:rPr lang="en-IN" sz="800" dirty="0"/>
              <a:t>='bold')</a:t>
            </a:r>
          </a:p>
          <a:p>
            <a:r>
              <a:rPr lang="en-IN" sz="800" dirty="0"/>
              <a:t>ax4.set_xlabel('Date'); ax4.set_ylabel('Spends (₹ </a:t>
            </a:r>
            <a:r>
              <a:rPr lang="en-IN" sz="800" dirty="0" err="1"/>
              <a:t>Mn</a:t>
            </a:r>
            <a:r>
              <a:rPr lang="en-IN" sz="800" dirty="0"/>
              <a:t>)')</a:t>
            </a:r>
          </a:p>
          <a:p>
            <a:r>
              <a:rPr lang="en-IN" sz="800" dirty="0"/>
              <a:t>ax4.legend(</a:t>
            </a:r>
            <a:r>
              <a:rPr lang="en-IN" sz="800" dirty="0" err="1"/>
              <a:t>loc</a:t>
            </a:r>
            <a:r>
              <a:rPr lang="en-IN" sz="800" dirty="0"/>
              <a:t>='upper left', </a:t>
            </a:r>
            <a:r>
              <a:rPr lang="en-IN" sz="800" dirty="0" err="1"/>
              <a:t>fontsize</a:t>
            </a:r>
            <a:r>
              <a:rPr lang="en-IN" sz="800" dirty="0"/>
              <a:t>=8)</a:t>
            </a:r>
          </a:p>
          <a:p>
            <a:r>
              <a:rPr lang="en-IN" sz="800" dirty="0"/>
              <a:t>ax4.grid(axis='y', alpha=0.3)</a:t>
            </a:r>
          </a:p>
          <a:p>
            <a:r>
              <a:rPr lang="en-IN" sz="800" dirty="0"/>
              <a:t># 3.5 Correlation </a:t>
            </a:r>
            <a:r>
              <a:rPr lang="en-IN" sz="800" dirty="0" err="1"/>
              <a:t>heatmap</a:t>
            </a:r>
            <a:r>
              <a:rPr lang="en-IN" sz="800" dirty="0"/>
              <a:t> (key variables)</a:t>
            </a:r>
          </a:p>
          <a:p>
            <a:r>
              <a:rPr lang="en-IN" sz="800" dirty="0"/>
              <a:t>ax5 = </a:t>
            </a:r>
            <a:r>
              <a:rPr lang="en-IN" sz="800" dirty="0" err="1"/>
              <a:t>fig.add_subplot</a:t>
            </a:r>
            <a:r>
              <a:rPr lang="en-IN" sz="800" dirty="0"/>
              <a:t>(</a:t>
            </a:r>
            <a:r>
              <a:rPr lang="en-IN" sz="800" dirty="0" err="1"/>
              <a:t>gs</a:t>
            </a:r>
            <a:r>
              <a:rPr lang="en-IN" sz="800" dirty="0"/>
              <a:t>[2, :2])</a:t>
            </a:r>
          </a:p>
          <a:p>
            <a:r>
              <a:rPr lang="en-IN" sz="800" dirty="0" err="1"/>
              <a:t>corr_cols</a:t>
            </a:r>
            <a:r>
              <a:rPr lang="en-IN" sz="800" dirty="0"/>
              <a:t> = ['kpi_val_sales_</a:t>
            </a:r>
            <a:r>
              <a:rPr lang="en-IN" sz="800" dirty="0" err="1"/>
              <a:t>mn</a:t>
            </a:r>
            <a:r>
              <a:rPr lang="en-IN" sz="800" dirty="0"/>
              <a:t>','tv_total_spends_</a:t>
            </a:r>
            <a:r>
              <a:rPr lang="en-IN" sz="800" dirty="0" err="1"/>
              <a:t>mn</a:t>
            </a:r>
            <a:r>
              <a:rPr lang="en-IN" sz="800" dirty="0"/>
              <a:t>','</a:t>
            </a:r>
            <a:r>
              <a:rPr lang="en-IN" sz="800" dirty="0" err="1"/>
              <a:t>newspaper_spends_mn</a:t>
            </a:r>
            <a:r>
              <a:rPr lang="en-IN" sz="800" dirty="0"/>
              <a:t>',</a:t>
            </a:r>
          </a:p>
          <a:p>
            <a:r>
              <a:rPr lang="en-IN" sz="800" dirty="0"/>
              <a:t>             'digital_spends_mn','trade_promo_spends_mn','consumer_promo_spends_mn',</a:t>
            </a:r>
          </a:p>
          <a:p>
            <a:r>
              <a:rPr lang="en-IN" sz="800" dirty="0"/>
              <a:t>             'wtd_dist_max','</a:t>
            </a:r>
            <a:r>
              <a:rPr lang="en-IN" sz="800" dirty="0" err="1"/>
              <a:t>competition_tv_spends</a:t>
            </a:r>
            <a:r>
              <a:rPr lang="en-IN" sz="800" dirty="0" smtClean="0"/>
              <a:t>']</a:t>
            </a:r>
          </a:p>
          <a:p>
            <a:r>
              <a:rPr lang="en-IN" sz="800" dirty="0" err="1"/>
              <a:t>corr_labels</a:t>
            </a:r>
            <a:r>
              <a:rPr lang="en-IN" sz="800" dirty="0"/>
              <a:t> = ['</a:t>
            </a:r>
            <a:r>
              <a:rPr lang="en-IN" sz="800" dirty="0" err="1"/>
              <a:t>Sales','TV','Newspaper','Digital','Trade</a:t>
            </a:r>
            <a:r>
              <a:rPr lang="en-IN" sz="800" dirty="0"/>
              <a:t> </a:t>
            </a:r>
            <a:r>
              <a:rPr lang="en-IN" sz="800" dirty="0" err="1"/>
              <a:t>Promo','Cons</a:t>
            </a:r>
            <a:r>
              <a:rPr lang="en-IN" sz="800" dirty="0"/>
              <a:t>. Promo',</a:t>
            </a:r>
          </a:p>
          <a:p>
            <a:r>
              <a:rPr lang="en-IN" sz="800" dirty="0"/>
              <a:t>               '</a:t>
            </a:r>
            <a:r>
              <a:rPr lang="en-IN" sz="800" dirty="0" err="1"/>
              <a:t>Distribution','Comp</a:t>
            </a:r>
            <a:r>
              <a:rPr lang="en-IN" sz="800" dirty="0"/>
              <a:t>. TV']</a:t>
            </a:r>
          </a:p>
          <a:p>
            <a:endParaRPr lang="en-IN" sz="800" dirty="0"/>
          </a:p>
          <a:p>
            <a:endParaRPr lang="en-IN" sz="800" dirty="0"/>
          </a:p>
        </p:txBody>
      </p:sp>
      <p:sp>
        <p:nvSpPr>
          <p:cNvPr id="4" name="TextBox 3"/>
          <p:cNvSpPr txBox="1"/>
          <p:nvPr/>
        </p:nvSpPr>
        <p:spPr>
          <a:xfrm>
            <a:off x="5658928" y="828135"/>
            <a:ext cx="5667553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err="1" smtClean="0"/>
              <a:t>corr_df</a:t>
            </a:r>
            <a:r>
              <a:rPr lang="en-IN" sz="800" dirty="0" smtClean="0"/>
              <a:t> </a:t>
            </a:r>
            <a:r>
              <a:rPr lang="en-IN" sz="800" dirty="0"/>
              <a:t>= df[</a:t>
            </a:r>
            <a:r>
              <a:rPr lang="en-IN" sz="800" dirty="0" err="1"/>
              <a:t>corr_cols</a:t>
            </a:r>
            <a:r>
              <a:rPr lang="en-IN" sz="800" dirty="0"/>
              <a:t>].copy()</a:t>
            </a:r>
          </a:p>
          <a:p>
            <a:r>
              <a:rPr lang="en-IN" sz="800" dirty="0" err="1"/>
              <a:t>corr_df.columns</a:t>
            </a:r>
            <a:r>
              <a:rPr lang="en-IN" sz="800" dirty="0"/>
              <a:t> = </a:t>
            </a:r>
            <a:r>
              <a:rPr lang="en-IN" sz="800" dirty="0" err="1"/>
              <a:t>corr_labels</a:t>
            </a:r>
            <a:endParaRPr lang="en-IN" sz="800" dirty="0"/>
          </a:p>
          <a:p>
            <a:r>
              <a:rPr lang="en-IN" sz="800" dirty="0" err="1"/>
              <a:t>corr_mat</a:t>
            </a:r>
            <a:r>
              <a:rPr lang="en-IN" sz="800" dirty="0"/>
              <a:t> = </a:t>
            </a:r>
            <a:r>
              <a:rPr lang="en-IN" sz="800" dirty="0" err="1"/>
              <a:t>corr_df.corr</a:t>
            </a:r>
            <a:r>
              <a:rPr lang="en-IN" sz="800" dirty="0"/>
              <a:t>()</a:t>
            </a:r>
          </a:p>
          <a:p>
            <a:r>
              <a:rPr lang="en-IN" sz="800" dirty="0"/>
              <a:t>mask = </a:t>
            </a:r>
            <a:r>
              <a:rPr lang="en-IN" sz="800" dirty="0" err="1"/>
              <a:t>np.triu</a:t>
            </a:r>
            <a:r>
              <a:rPr lang="en-IN" sz="800" dirty="0"/>
              <a:t>(</a:t>
            </a:r>
            <a:r>
              <a:rPr lang="en-IN" sz="800" dirty="0" err="1"/>
              <a:t>np.ones_like</a:t>
            </a:r>
            <a:r>
              <a:rPr lang="en-IN" sz="800" dirty="0"/>
              <a:t>(</a:t>
            </a:r>
            <a:r>
              <a:rPr lang="en-IN" sz="800" dirty="0" err="1"/>
              <a:t>corr_mat</a:t>
            </a:r>
            <a:r>
              <a:rPr lang="en-IN" sz="800" dirty="0"/>
              <a:t>, </a:t>
            </a:r>
            <a:r>
              <a:rPr lang="en-IN" sz="800" dirty="0" err="1"/>
              <a:t>dtype</a:t>
            </a:r>
            <a:r>
              <a:rPr lang="en-IN" sz="800" dirty="0"/>
              <a:t>=bool))</a:t>
            </a:r>
          </a:p>
          <a:p>
            <a:r>
              <a:rPr lang="en-IN" sz="800" dirty="0" err="1"/>
              <a:t>sns.heatmap</a:t>
            </a:r>
            <a:r>
              <a:rPr lang="en-IN" sz="800" dirty="0"/>
              <a:t>(</a:t>
            </a:r>
            <a:r>
              <a:rPr lang="en-IN" sz="800" dirty="0" err="1"/>
              <a:t>corr_mat</a:t>
            </a:r>
            <a:r>
              <a:rPr lang="en-IN" sz="800" dirty="0"/>
              <a:t>, mask=mask, </a:t>
            </a:r>
            <a:r>
              <a:rPr lang="en-IN" sz="800" dirty="0" err="1"/>
              <a:t>annot</a:t>
            </a:r>
            <a:r>
              <a:rPr lang="en-IN" sz="800" dirty="0"/>
              <a:t>=True, </a:t>
            </a:r>
            <a:r>
              <a:rPr lang="en-IN" sz="800" dirty="0" err="1"/>
              <a:t>fmt</a:t>
            </a:r>
            <a:r>
              <a:rPr lang="en-IN" sz="800" dirty="0"/>
              <a:t>='.2f', </a:t>
            </a:r>
            <a:r>
              <a:rPr lang="en-IN" sz="800" dirty="0" err="1"/>
              <a:t>cmap</a:t>
            </a:r>
            <a:r>
              <a:rPr lang="en-IN" sz="800" dirty="0"/>
              <a:t>='</a:t>
            </a:r>
            <a:r>
              <a:rPr lang="en-IN" sz="800" dirty="0" err="1"/>
              <a:t>RdYlGn</a:t>
            </a:r>
            <a:r>
              <a:rPr lang="en-IN" sz="800" dirty="0"/>
              <a:t>',</a:t>
            </a:r>
          </a:p>
          <a:p>
            <a:r>
              <a:rPr lang="en-IN" sz="800" dirty="0"/>
              <a:t>            </a:t>
            </a:r>
            <a:r>
              <a:rPr lang="en-IN" sz="800" dirty="0" err="1"/>
              <a:t>ax</a:t>
            </a:r>
            <a:r>
              <a:rPr lang="en-IN" sz="800" dirty="0"/>
              <a:t>=ax5, </a:t>
            </a:r>
            <a:r>
              <a:rPr lang="en-IN" sz="800" dirty="0" err="1"/>
              <a:t>linewidths</a:t>
            </a:r>
            <a:r>
              <a:rPr lang="en-IN" sz="800" dirty="0"/>
              <a:t>=0.5, </a:t>
            </a:r>
            <a:r>
              <a:rPr lang="en-IN" sz="800" dirty="0" err="1"/>
              <a:t>vmin</a:t>
            </a:r>
            <a:r>
              <a:rPr lang="en-IN" sz="800" dirty="0"/>
              <a:t>=-1, </a:t>
            </a:r>
            <a:r>
              <a:rPr lang="en-IN" sz="800" dirty="0" err="1"/>
              <a:t>vmax</a:t>
            </a:r>
            <a:r>
              <a:rPr lang="en-IN" sz="800" dirty="0"/>
              <a:t>=1)</a:t>
            </a:r>
          </a:p>
          <a:p>
            <a:r>
              <a:rPr lang="en-IN" sz="800" dirty="0"/>
              <a:t>ax5.set_title('Correlation Matrix — Key Variables', </a:t>
            </a:r>
            <a:r>
              <a:rPr lang="en-IN" sz="800" dirty="0" err="1"/>
              <a:t>fontsize</a:t>
            </a:r>
            <a:r>
              <a:rPr lang="en-IN" sz="800" dirty="0"/>
              <a:t>=13, </a:t>
            </a:r>
            <a:r>
              <a:rPr lang="en-IN" sz="800" dirty="0" err="1"/>
              <a:t>fontweight</a:t>
            </a:r>
            <a:r>
              <a:rPr lang="en-IN" sz="800" dirty="0"/>
              <a:t>='bold')</a:t>
            </a:r>
          </a:p>
          <a:p>
            <a:r>
              <a:rPr lang="en-IN" sz="800" dirty="0"/>
              <a:t># 3.6 Scatter: TV </a:t>
            </a:r>
            <a:r>
              <a:rPr lang="en-IN" sz="800" dirty="0" err="1"/>
              <a:t>vs</a:t>
            </a:r>
            <a:r>
              <a:rPr lang="en-IN" sz="800" dirty="0"/>
              <a:t> Sales</a:t>
            </a:r>
          </a:p>
          <a:p>
            <a:r>
              <a:rPr lang="en-IN" sz="800" dirty="0"/>
              <a:t>ax6 = </a:t>
            </a:r>
            <a:r>
              <a:rPr lang="en-IN" sz="800" dirty="0" err="1"/>
              <a:t>fig.add_subplot</a:t>
            </a:r>
            <a:r>
              <a:rPr lang="en-IN" sz="800" dirty="0"/>
              <a:t>(</a:t>
            </a:r>
            <a:r>
              <a:rPr lang="en-IN" sz="800" dirty="0" err="1"/>
              <a:t>gs</a:t>
            </a:r>
            <a:r>
              <a:rPr lang="en-IN" sz="800" dirty="0"/>
              <a:t>[2, 2])</a:t>
            </a:r>
          </a:p>
          <a:p>
            <a:r>
              <a:rPr lang="en-IN" sz="800" dirty="0"/>
              <a:t>ax6.scatter(df['</a:t>
            </a:r>
            <a:r>
              <a:rPr lang="en-IN" sz="800" dirty="0" err="1"/>
              <a:t>tv_total_spends_mn</a:t>
            </a:r>
            <a:r>
              <a:rPr lang="en-IN" sz="800" dirty="0"/>
              <a:t>'], df['</a:t>
            </a:r>
            <a:r>
              <a:rPr lang="en-IN" sz="800" dirty="0" err="1"/>
              <a:t>kpi_val_sales_mn</a:t>
            </a:r>
            <a:r>
              <a:rPr lang="en-IN" sz="800" dirty="0"/>
              <a:t>'], </a:t>
            </a:r>
            <a:r>
              <a:rPr lang="en-IN" sz="800" dirty="0" err="1"/>
              <a:t>color</a:t>
            </a:r>
            <a:r>
              <a:rPr lang="en-IN" sz="800" dirty="0"/>
              <a:t>='#DC2626', alpha=0.7, </a:t>
            </a:r>
            <a:r>
              <a:rPr lang="en-IN" sz="800" dirty="0" err="1"/>
              <a:t>edgecolor</a:t>
            </a:r>
            <a:r>
              <a:rPr lang="en-IN" sz="800" dirty="0"/>
              <a:t>='white')</a:t>
            </a:r>
          </a:p>
          <a:p>
            <a:r>
              <a:rPr lang="en-IN" sz="800" dirty="0"/>
              <a:t>m, b = </a:t>
            </a:r>
            <a:r>
              <a:rPr lang="en-IN" sz="800" dirty="0" err="1"/>
              <a:t>np.polyfit</a:t>
            </a:r>
            <a:r>
              <a:rPr lang="en-IN" sz="800" dirty="0"/>
              <a:t>(df['</a:t>
            </a:r>
            <a:r>
              <a:rPr lang="en-IN" sz="800" dirty="0" err="1"/>
              <a:t>tv_total_spends_mn</a:t>
            </a:r>
            <a:r>
              <a:rPr lang="en-IN" sz="800" dirty="0"/>
              <a:t>'], df['</a:t>
            </a:r>
            <a:r>
              <a:rPr lang="en-IN" sz="800" dirty="0" err="1"/>
              <a:t>kpi_val_sales_mn</a:t>
            </a:r>
            <a:r>
              <a:rPr lang="en-IN" sz="800" dirty="0"/>
              <a:t>'], 1)</a:t>
            </a:r>
          </a:p>
          <a:p>
            <a:r>
              <a:rPr lang="en-IN" sz="800" dirty="0" err="1"/>
              <a:t>xline</a:t>
            </a:r>
            <a:r>
              <a:rPr lang="en-IN" sz="800" dirty="0"/>
              <a:t> = </a:t>
            </a:r>
            <a:r>
              <a:rPr lang="en-IN" sz="800" dirty="0" err="1"/>
              <a:t>np.linspace</a:t>
            </a:r>
            <a:r>
              <a:rPr lang="en-IN" sz="800" dirty="0"/>
              <a:t>(df['</a:t>
            </a:r>
            <a:r>
              <a:rPr lang="en-IN" sz="800" dirty="0" err="1"/>
              <a:t>tv_total_spends_mn</a:t>
            </a:r>
            <a:r>
              <a:rPr lang="en-IN" sz="800" dirty="0"/>
              <a:t>'].min(), df['</a:t>
            </a:r>
            <a:r>
              <a:rPr lang="en-IN" sz="800" dirty="0" err="1"/>
              <a:t>tv_total_spends_mn</a:t>
            </a:r>
            <a:r>
              <a:rPr lang="en-IN" sz="800" dirty="0"/>
              <a:t>'].max(), 100)</a:t>
            </a:r>
          </a:p>
          <a:p>
            <a:r>
              <a:rPr lang="en-IN" sz="800" dirty="0"/>
              <a:t>ax6.plot(</a:t>
            </a:r>
            <a:r>
              <a:rPr lang="en-IN" sz="800" dirty="0" err="1"/>
              <a:t>xline</a:t>
            </a:r>
            <a:r>
              <a:rPr lang="en-IN" sz="800" dirty="0"/>
              <a:t>, m*</a:t>
            </a:r>
            <a:r>
              <a:rPr lang="en-IN" sz="800" dirty="0" err="1"/>
              <a:t>xline+b</a:t>
            </a:r>
            <a:r>
              <a:rPr lang="en-IN" sz="800" dirty="0"/>
              <a:t>, 'r--', </a:t>
            </a:r>
            <a:r>
              <a:rPr lang="en-IN" sz="800" dirty="0" err="1"/>
              <a:t>linewidth</a:t>
            </a:r>
            <a:r>
              <a:rPr lang="en-IN" sz="800" dirty="0"/>
              <a:t>=1.5)</a:t>
            </a:r>
          </a:p>
          <a:p>
            <a:r>
              <a:rPr lang="en-IN" sz="800" dirty="0"/>
              <a:t>ax6.set_title('TV Spends </a:t>
            </a:r>
            <a:r>
              <a:rPr lang="en-IN" sz="800" dirty="0" err="1"/>
              <a:t>vs</a:t>
            </a:r>
            <a:r>
              <a:rPr lang="en-IN" sz="800" dirty="0"/>
              <a:t> Sales', </a:t>
            </a:r>
            <a:r>
              <a:rPr lang="en-IN" sz="800" dirty="0" err="1"/>
              <a:t>fontsize</a:t>
            </a:r>
            <a:r>
              <a:rPr lang="en-IN" sz="800" dirty="0"/>
              <a:t>=13, </a:t>
            </a:r>
            <a:r>
              <a:rPr lang="en-IN" sz="800" dirty="0" err="1"/>
              <a:t>fontweight</a:t>
            </a:r>
            <a:r>
              <a:rPr lang="en-IN" sz="800" dirty="0"/>
              <a:t>='bold')</a:t>
            </a:r>
          </a:p>
          <a:p>
            <a:r>
              <a:rPr lang="en-IN" sz="800" dirty="0"/>
              <a:t>ax6.set_xlabel('TV Spends (₹ </a:t>
            </a:r>
            <a:r>
              <a:rPr lang="en-IN" sz="800" dirty="0" err="1"/>
              <a:t>Mn</a:t>
            </a:r>
            <a:r>
              <a:rPr lang="en-IN" sz="800" dirty="0"/>
              <a:t>)'); ax6.set_ylabel('Sales (₹ </a:t>
            </a:r>
            <a:r>
              <a:rPr lang="en-IN" sz="800" dirty="0" err="1"/>
              <a:t>Mn</a:t>
            </a:r>
            <a:r>
              <a:rPr lang="en-IN" sz="800" dirty="0"/>
              <a:t>)')</a:t>
            </a:r>
          </a:p>
          <a:p>
            <a:r>
              <a:rPr lang="en-IN" sz="800" dirty="0"/>
              <a:t>ax6.grid(alpha=0.3)</a:t>
            </a:r>
          </a:p>
          <a:p>
            <a:r>
              <a:rPr lang="en-IN" sz="800" dirty="0"/>
              <a:t># 3.7 Yearly </a:t>
            </a:r>
            <a:r>
              <a:rPr lang="en-IN" sz="800" dirty="0" err="1"/>
              <a:t>avg</a:t>
            </a:r>
            <a:r>
              <a:rPr lang="en-IN" sz="800" dirty="0"/>
              <a:t> sales</a:t>
            </a:r>
          </a:p>
          <a:p>
            <a:r>
              <a:rPr lang="en-IN" sz="800" dirty="0"/>
              <a:t>ax7 = </a:t>
            </a:r>
            <a:r>
              <a:rPr lang="en-IN" sz="800" dirty="0" err="1"/>
              <a:t>fig.add_subplot</a:t>
            </a:r>
            <a:r>
              <a:rPr lang="en-IN" sz="800" dirty="0"/>
              <a:t>(</a:t>
            </a:r>
            <a:r>
              <a:rPr lang="en-IN" sz="800" dirty="0" err="1"/>
              <a:t>gs</a:t>
            </a:r>
            <a:r>
              <a:rPr lang="en-IN" sz="800" dirty="0"/>
              <a:t>[3, 0])</a:t>
            </a:r>
          </a:p>
          <a:p>
            <a:r>
              <a:rPr lang="en-IN" sz="800" dirty="0"/>
              <a:t>df['year'] = df['date'].</a:t>
            </a:r>
            <a:r>
              <a:rPr lang="en-IN" sz="800" dirty="0" err="1"/>
              <a:t>dt.year</a:t>
            </a:r>
            <a:endParaRPr lang="en-IN" sz="800" dirty="0"/>
          </a:p>
          <a:p>
            <a:r>
              <a:rPr lang="en-IN" sz="800" dirty="0"/>
              <a:t>yearly = </a:t>
            </a:r>
            <a:r>
              <a:rPr lang="en-IN" sz="800" dirty="0" err="1"/>
              <a:t>df.groupby</a:t>
            </a:r>
            <a:r>
              <a:rPr lang="en-IN" sz="800" dirty="0"/>
              <a:t>('year')['</a:t>
            </a:r>
            <a:r>
              <a:rPr lang="en-IN" sz="800" dirty="0" err="1"/>
              <a:t>kpi_val_sales_mn</a:t>
            </a:r>
            <a:r>
              <a:rPr lang="en-IN" sz="800" dirty="0"/>
              <a:t>'].mean()</a:t>
            </a:r>
          </a:p>
          <a:p>
            <a:r>
              <a:rPr lang="en-IN" sz="800" dirty="0"/>
              <a:t>bars = ax7.bar(</a:t>
            </a:r>
            <a:r>
              <a:rPr lang="en-IN" sz="800" dirty="0" err="1"/>
              <a:t>yearly.index.astype</a:t>
            </a:r>
            <a:r>
              <a:rPr lang="en-IN" sz="800" dirty="0"/>
              <a:t>(</a:t>
            </a:r>
            <a:r>
              <a:rPr lang="en-IN" sz="800" dirty="0" err="1"/>
              <a:t>str</a:t>
            </a:r>
            <a:r>
              <a:rPr lang="en-IN" sz="800" dirty="0"/>
              <a:t>), </a:t>
            </a:r>
            <a:r>
              <a:rPr lang="en-IN" sz="800" dirty="0" err="1"/>
              <a:t>yearly.values</a:t>
            </a:r>
            <a:r>
              <a:rPr lang="en-IN" sz="800" dirty="0"/>
              <a:t>, </a:t>
            </a:r>
            <a:r>
              <a:rPr lang="en-IN" sz="800" dirty="0" err="1"/>
              <a:t>color</a:t>
            </a:r>
            <a:r>
              <a:rPr lang="en-IN" sz="800" dirty="0"/>
              <a:t>=COLORS[:4], </a:t>
            </a:r>
            <a:r>
              <a:rPr lang="en-IN" sz="800" dirty="0" err="1"/>
              <a:t>edgecolor</a:t>
            </a:r>
            <a:r>
              <a:rPr lang="en-IN" sz="800" dirty="0"/>
              <a:t>='white')</a:t>
            </a:r>
          </a:p>
          <a:p>
            <a:r>
              <a:rPr lang="en-IN" sz="800" dirty="0"/>
              <a:t>ax7.set_title('</a:t>
            </a:r>
            <a:r>
              <a:rPr lang="en-IN" sz="800" dirty="0" err="1"/>
              <a:t>Avg</a:t>
            </a:r>
            <a:r>
              <a:rPr lang="en-IN" sz="800" dirty="0"/>
              <a:t> Monthly Sales by Year', </a:t>
            </a:r>
            <a:r>
              <a:rPr lang="en-IN" sz="800" dirty="0" err="1"/>
              <a:t>fontsize</a:t>
            </a:r>
            <a:r>
              <a:rPr lang="en-IN" sz="800" dirty="0"/>
              <a:t>=13, </a:t>
            </a:r>
            <a:r>
              <a:rPr lang="en-IN" sz="800" dirty="0" err="1"/>
              <a:t>fontweight</a:t>
            </a:r>
            <a:r>
              <a:rPr lang="en-IN" sz="800" dirty="0"/>
              <a:t>='bold')</a:t>
            </a:r>
          </a:p>
          <a:p>
            <a:r>
              <a:rPr lang="en-IN" sz="800" dirty="0"/>
              <a:t>ax7.set_ylabel('Sales (₹ </a:t>
            </a:r>
            <a:r>
              <a:rPr lang="en-IN" sz="800" dirty="0" err="1"/>
              <a:t>Mn</a:t>
            </a:r>
            <a:r>
              <a:rPr lang="en-IN" sz="800" dirty="0"/>
              <a:t>)')</a:t>
            </a:r>
          </a:p>
          <a:p>
            <a:r>
              <a:rPr lang="en-IN" sz="800" dirty="0"/>
              <a:t>for bar, </a:t>
            </a:r>
            <a:r>
              <a:rPr lang="en-IN" sz="800" dirty="0" err="1"/>
              <a:t>val</a:t>
            </a:r>
            <a:r>
              <a:rPr lang="en-IN" sz="800" dirty="0"/>
              <a:t> in zip(bars, </a:t>
            </a:r>
            <a:r>
              <a:rPr lang="en-IN" sz="800" dirty="0" err="1"/>
              <a:t>yearly.values</a:t>
            </a:r>
            <a:r>
              <a:rPr lang="en-IN" sz="800" dirty="0"/>
              <a:t>):</a:t>
            </a:r>
          </a:p>
          <a:p>
            <a:r>
              <a:rPr lang="en-IN" sz="800" dirty="0"/>
              <a:t>    ax7.text(</a:t>
            </a:r>
            <a:r>
              <a:rPr lang="en-IN" sz="800" dirty="0" err="1"/>
              <a:t>bar.get_x</a:t>
            </a:r>
            <a:r>
              <a:rPr lang="en-IN" sz="800" dirty="0"/>
              <a:t>()+</a:t>
            </a:r>
            <a:r>
              <a:rPr lang="en-IN" sz="800" dirty="0" err="1"/>
              <a:t>bar.get_width</a:t>
            </a:r>
            <a:r>
              <a:rPr lang="en-IN" sz="800" dirty="0"/>
              <a:t>()/2, </a:t>
            </a:r>
            <a:r>
              <a:rPr lang="en-IN" sz="800" dirty="0" err="1"/>
              <a:t>bar.get_height</a:t>
            </a:r>
            <a:r>
              <a:rPr lang="en-IN" sz="800" dirty="0"/>
              <a:t>()+2, f'₹{val:.0f}', ha='</a:t>
            </a:r>
            <a:r>
              <a:rPr lang="en-IN" sz="800" dirty="0" err="1"/>
              <a:t>center</a:t>
            </a:r>
            <a:r>
              <a:rPr lang="en-IN" sz="800" dirty="0"/>
              <a:t>', </a:t>
            </a:r>
            <a:r>
              <a:rPr lang="en-IN" sz="800" dirty="0" err="1"/>
              <a:t>fontsize</a:t>
            </a:r>
            <a:r>
              <a:rPr lang="en-IN" sz="800" dirty="0"/>
              <a:t>=9, </a:t>
            </a:r>
            <a:r>
              <a:rPr lang="en-IN" sz="800" dirty="0" err="1"/>
              <a:t>fontweight</a:t>
            </a:r>
            <a:r>
              <a:rPr lang="en-IN" sz="800" dirty="0"/>
              <a:t>='bold')</a:t>
            </a:r>
          </a:p>
          <a:p>
            <a:r>
              <a:rPr lang="en-IN" sz="800" dirty="0"/>
              <a:t>ax7.grid(axis='y', alpha=0.3)</a:t>
            </a:r>
          </a:p>
          <a:p>
            <a:r>
              <a:rPr lang="en-IN" sz="800" dirty="0"/>
              <a:t># 3.8 Seasonality - monthly pattern</a:t>
            </a:r>
          </a:p>
          <a:p>
            <a:r>
              <a:rPr lang="en-IN" sz="800" dirty="0"/>
              <a:t>ax8 = </a:t>
            </a:r>
            <a:r>
              <a:rPr lang="en-IN" sz="800" dirty="0" err="1"/>
              <a:t>fig.add_subplot</a:t>
            </a:r>
            <a:r>
              <a:rPr lang="en-IN" sz="800" dirty="0"/>
              <a:t>(</a:t>
            </a:r>
            <a:r>
              <a:rPr lang="en-IN" sz="800" dirty="0" err="1"/>
              <a:t>gs</a:t>
            </a:r>
            <a:r>
              <a:rPr lang="en-IN" sz="800" dirty="0"/>
              <a:t>[3, 1])</a:t>
            </a:r>
          </a:p>
          <a:p>
            <a:r>
              <a:rPr lang="en-IN" sz="800" dirty="0"/>
              <a:t>df['month'] = df['date'].</a:t>
            </a:r>
            <a:r>
              <a:rPr lang="en-IN" sz="800" dirty="0" err="1"/>
              <a:t>dt.month</a:t>
            </a:r>
            <a:endParaRPr lang="en-IN" sz="800" dirty="0"/>
          </a:p>
          <a:p>
            <a:r>
              <a:rPr lang="en-IN" sz="800" dirty="0" err="1"/>
              <a:t>monthly_avg</a:t>
            </a:r>
            <a:r>
              <a:rPr lang="en-IN" sz="800" dirty="0"/>
              <a:t> = </a:t>
            </a:r>
            <a:r>
              <a:rPr lang="en-IN" sz="800" dirty="0" err="1"/>
              <a:t>df.groupby</a:t>
            </a:r>
            <a:r>
              <a:rPr lang="en-IN" sz="800" dirty="0"/>
              <a:t>('month')['</a:t>
            </a:r>
            <a:r>
              <a:rPr lang="en-IN" sz="800" dirty="0" err="1"/>
              <a:t>kpi_val_sales_mn</a:t>
            </a:r>
            <a:r>
              <a:rPr lang="en-IN" sz="800" dirty="0"/>
              <a:t>'].mean()</a:t>
            </a:r>
          </a:p>
          <a:p>
            <a:r>
              <a:rPr lang="en-IN" sz="800" dirty="0" err="1"/>
              <a:t>month_names</a:t>
            </a:r>
            <a:r>
              <a:rPr lang="en-IN" sz="800" dirty="0"/>
              <a:t> = ['Jan','Feb','Mar','Apr','May','Jun','Jul','Aug','Sep','Oct','Nov','Dec']</a:t>
            </a:r>
          </a:p>
          <a:p>
            <a:r>
              <a:rPr lang="en-IN" sz="800" dirty="0"/>
              <a:t>ax8.bar(</a:t>
            </a:r>
            <a:r>
              <a:rPr lang="en-IN" sz="800" dirty="0" err="1"/>
              <a:t>month_names</a:t>
            </a:r>
            <a:r>
              <a:rPr lang="en-IN" sz="800" dirty="0"/>
              <a:t>, </a:t>
            </a:r>
            <a:r>
              <a:rPr lang="en-IN" sz="800" dirty="0" err="1"/>
              <a:t>monthly_avg.values</a:t>
            </a:r>
            <a:r>
              <a:rPr lang="en-IN" sz="800" dirty="0"/>
              <a:t>, </a:t>
            </a:r>
            <a:r>
              <a:rPr lang="en-IN" sz="800" dirty="0" err="1"/>
              <a:t>color</a:t>
            </a:r>
            <a:r>
              <a:rPr lang="en-IN" sz="800" dirty="0"/>
              <a:t>='#7C3AED', </a:t>
            </a:r>
            <a:r>
              <a:rPr lang="en-IN" sz="800" dirty="0" err="1"/>
              <a:t>edgecolor</a:t>
            </a:r>
            <a:r>
              <a:rPr lang="en-IN" sz="800" dirty="0"/>
              <a:t>='white', alpha=0.85)</a:t>
            </a:r>
          </a:p>
          <a:p>
            <a:r>
              <a:rPr lang="en-IN" sz="800" dirty="0"/>
              <a:t>ax8.set_title('</a:t>
            </a:r>
            <a:r>
              <a:rPr lang="en-IN" sz="800" dirty="0" err="1"/>
              <a:t>Avg</a:t>
            </a:r>
            <a:r>
              <a:rPr lang="en-IN" sz="800" dirty="0"/>
              <a:t> Sales by Month (Seasonality)', </a:t>
            </a:r>
            <a:r>
              <a:rPr lang="en-IN" sz="800" dirty="0" err="1"/>
              <a:t>fontsize</a:t>
            </a:r>
            <a:r>
              <a:rPr lang="en-IN" sz="800" dirty="0"/>
              <a:t>=13, </a:t>
            </a:r>
            <a:r>
              <a:rPr lang="en-IN" sz="800" dirty="0" err="1"/>
              <a:t>fontweight</a:t>
            </a:r>
            <a:r>
              <a:rPr lang="en-IN" sz="800" dirty="0"/>
              <a:t>='bold')</a:t>
            </a:r>
          </a:p>
          <a:p>
            <a:r>
              <a:rPr lang="en-IN" sz="800" dirty="0"/>
              <a:t>ax8.set_ylabel('Sales (₹ </a:t>
            </a:r>
            <a:r>
              <a:rPr lang="en-IN" sz="800" dirty="0" err="1"/>
              <a:t>Mn</a:t>
            </a:r>
            <a:r>
              <a:rPr lang="en-IN" sz="800" dirty="0"/>
              <a:t>)')</a:t>
            </a:r>
          </a:p>
          <a:p>
            <a:r>
              <a:rPr lang="en-IN" sz="800" dirty="0"/>
              <a:t>ax8.grid(axis='y', alpha=0.3)</a:t>
            </a:r>
          </a:p>
          <a:p>
            <a:r>
              <a:rPr lang="en-IN" sz="800" dirty="0"/>
              <a:t># 3.9 Digital channel breakdown</a:t>
            </a:r>
          </a:p>
          <a:p>
            <a:r>
              <a:rPr lang="en-IN" sz="800" dirty="0"/>
              <a:t>ax9 = </a:t>
            </a:r>
            <a:r>
              <a:rPr lang="en-IN" sz="800" dirty="0" err="1"/>
              <a:t>fig.add_subplot</a:t>
            </a:r>
            <a:r>
              <a:rPr lang="en-IN" sz="800" dirty="0"/>
              <a:t>(</a:t>
            </a:r>
            <a:r>
              <a:rPr lang="en-IN" sz="800" dirty="0" err="1"/>
              <a:t>gs</a:t>
            </a:r>
            <a:r>
              <a:rPr lang="en-IN" sz="800" dirty="0"/>
              <a:t>[3, 2])</a:t>
            </a:r>
          </a:p>
          <a:p>
            <a:r>
              <a:rPr lang="en-IN" sz="800" dirty="0" err="1"/>
              <a:t>dig_cols</a:t>
            </a:r>
            <a:r>
              <a:rPr lang="en-IN" sz="800" dirty="0"/>
              <a:t> = ['youtube_spends_mn','fb_ig_spends_mn','google_display_spends_mn',</a:t>
            </a:r>
          </a:p>
          <a:p>
            <a:r>
              <a:rPr lang="en-IN" sz="800" dirty="0"/>
              <a:t>            'jio_spends_</a:t>
            </a:r>
            <a:r>
              <a:rPr lang="en-IN" sz="800" dirty="0" err="1"/>
              <a:t>mn</a:t>
            </a:r>
            <a:r>
              <a:rPr lang="en-IN" sz="800" dirty="0"/>
              <a:t>','hotstar_spends_</a:t>
            </a:r>
            <a:r>
              <a:rPr lang="en-IN" sz="800" dirty="0" err="1"/>
              <a:t>mn</a:t>
            </a:r>
            <a:r>
              <a:rPr lang="en-IN" sz="800" dirty="0"/>
              <a:t>','</a:t>
            </a:r>
            <a:r>
              <a:rPr lang="en-IN" sz="800" dirty="0" err="1"/>
              <a:t>whatsapp_spends_mn</a:t>
            </a:r>
            <a:r>
              <a:rPr lang="en-IN" sz="800" dirty="0"/>
              <a:t>']</a:t>
            </a:r>
          </a:p>
          <a:p>
            <a:r>
              <a:rPr lang="en-IN" sz="800" dirty="0" err="1"/>
              <a:t>dig_labels</a:t>
            </a:r>
            <a:r>
              <a:rPr lang="en-IN" sz="800" dirty="0"/>
              <a:t> = ['</a:t>
            </a:r>
            <a:r>
              <a:rPr lang="en-IN" sz="800" dirty="0" err="1"/>
              <a:t>YouTube','FB</a:t>
            </a:r>
            <a:r>
              <a:rPr lang="en-IN" sz="800" dirty="0"/>
              <a:t>/</a:t>
            </a:r>
            <a:r>
              <a:rPr lang="en-IN" sz="800" dirty="0" err="1"/>
              <a:t>IG','Google</a:t>
            </a:r>
            <a:r>
              <a:rPr lang="en-IN" sz="800" dirty="0"/>
              <a:t> </a:t>
            </a:r>
            <a:r>
              <a:rPr lang="en-IN" sz="800" dirty="0" err="1"/>
              <a:t>Disp</a:t>
            </a:r>
            <a:r>
              <a:rPr lang="en-IN" sz="800" dirty="0"/>
              <a:t>.','</a:t>
            </a:r>
            <a:r>
              <a:rPr lang="en-IN" sz="800" dirty="0" err="1"/>
              <a:t>Jio</a:t>
            </a:r>
            <a:r>
              <a:rPr lang="en-IN" sz="800" dirty="0"/>
              <a:t>','</a:t>
            </a:r>
            <a:r>
              <a:rPr lang="en-IN" sz="800" dirty="0" err="1"/>
              <a:t>Hotstar</a:t>
            </a:r>
            <a:r>
              <a:rPr lang="en-IN" sz="800" dirty="0"/>
              <a:t>','</a:t>
            </a:r>
            <a:r>
              <a:rPr lang="en-IN" sz="800" dirty="0" err="1"/>
              <a:t>WhatsApp</a:t>
            </a:r>
            <a:r>
              <a:rPr lang="en-IN" sz="800" dirty="0"/>
              <a:t>']</a:t>
            </a:r>
          </a:p>
          <a:p>
            <a:r>
              <a:rPr lang="en-IN" sz="800" dirty="0" err="1"/>
              <a:t>dig_totals</a:t>
            </a:r>
            <a:r>
              <a:rPr lang="en-IN" sz="800" dirty="0"/>
              <a:t> = [df[c].sum() for c in </a:t>
            </a:r>
            <a:r>
              <a:rPr lang="en-IN" sz="800" dirty="0" err="1"/>
              <a:t>dig_cols</a:t>
            </a:r>
            <a:r>
              <a:rPr lang="en-IN" sz="800" dirty="0"/>
              <a:t>]</a:t>
            </a:r>
          </a:p>
          <a:p>
            <a:r>
              <a:rPr lang="en-IN" sz="800" dirty="0"/>
              <a:t>ax9.barh(</a:t>
            </a:r>
            <a:r>
              <a:rPr lang="en-IN" sz="800" dirty="0" err="1"/>
              <a:t>dig_labels</a:t>
            </a:r>
            <a:r>
              <a:rPr lang="en-IN" sz="800" dirty="0"/>
              <a:t>, </a:t>
            </a:r>
            <a:r>
              <a:rPr lang="en-IN" sz="800" dirty="0" err="1"/>
              <a:t>dig_totals</a:t>
            </a:r>
            <a:r>
              <a:rPr lang="en-IN" sz="800" dirty="0"/>
              <a:t>, </a:t>
            </a:r>
            <a:r>
              <a:rPr lang="en-IN" sz="800" dirty="0" err="1"/>
              <a:t>color</a:t>
            </a:r>
            <a:r>
              <a:rPr lang="en-IN" sz="800" dirty="0"/>
              <a:t>=COLORS[:6], </a:t>
            </a:r>
            <a:r>
              <a:rPr lang="en-IN" sz="800" dirty="0" err="1"/>
              <a:t>edgecolor</a:t>
            </a:r>
            <a:r>
              <a:rPr lang="en-IN" sz="800" dirty="0"/>
              <a:t>='white')</a:t>
            </a:r>
          </a:p>
          <a:p>
            <a:r>
              <a:rPr lang="en-IN" sz="800" dirty="0"/>
              <a:t>ax9.set_title('Digital Channel Spend (₹ </a:t>
            </a:r>
            <a:r>
              <a:rPr lang="en-IN" sz="800" dirty="0" err="1"/>
              <a:t>Mn</a:t>
            </a:r>
            <a:r>
              <a:rPr lang="en-IN" sz="800" dirty="0"/>
              <a:t>)', </a:t>
            </a:r>
            <a:r>
              <a:rPr lang="en-IN" sz="800" dirty="0" err="1"/>
              <a:t>fontsize</a:t>
            </a:r>
            <a:r>
              <a:rPr lang="en-IN" sz="800" dirty="0"/>
              <a:t>=13, </a:t>
            </a:r>
            <a:r>
              <a:rPr lang="en-IN" sz="800" dirty="0" err="1"/>
              <a:t>fontweight</a:t>
            </a:r>
            <a:r>
              <a:rPr lang="en-IN" sz="800" dirty="0"/>
              <a:t>='bold')</a:t>
            </a:r>
          </a:p>
          <a:p>
            <a:r>
              <a:rPr lang="en-IN" sz="800" dirty="0"/>
              <a:t>ax9.set_xlabel('Total Spend (₹ </a:t>
            </a:r>
            <a:r>
              <a:rPr lang="en-IN" sz="800" dirty="0" err="1"/>
              <a:t>Mn</a:t>
            </a:r>
            <a:r>
              <a:rPr lang="en-IN" sz="800" dirty="0"/>
              <a:t>)')</a:t>
            </a:r>
          </a:p>
          <a:p>
            <a:r>
              <a:rPr lang="en-IN" sz="800" dirty="0"/>
              <a:t>ax9.grid(axis='x', alpha=0.3)</a:t>
            </a:r>
          </a:p>
          <a:p>
            <a:r>
              <a:rPr lang="en-IN" sz="800" dirty="0" err="1"/>
              <a:t>fig.suptitle</a:t>
            </a:r>
            <a:r>
              <a:rPr lang="en-IN" sz="800" dirty="0"/>
              <a:t>('Marketing Mix Modelling — Exploratory Data Analysis', </a:t>
            </a:r>
            <a:r>
              <a:rPr lang="en-IN" sz="800" dirty="0" err="1"/>
              <a:t>fontsize</a:t>
            </a:r>
            <a:r>
              <a:rPr lang="en-IN" sz="800" dirty="0"/>
              <a:t>=16, </a:t>
            </a:r>
            <a:r>
              <a:rPr lang="en-IN" sz="800" dirty="0" err="1"/>
              <a:t>fontweight</a:t>
            </a:r>
            <a:r>
              <a:rPr lang="en-IN" sz="800" dirty="0"/>
              <a:t>='bold', y=1.01)</a:t>
            </a:r>
          </a:p>
          <a:p>
            <a:r>
              <a:rPr lang="en-IN" sz="800" dirty="0" err="1"/>
              <a:t>plt.savefig</a:t>
            </a:r>
            <a:r>
              <a:rPr lang="en-IN" sz="800" dirty="0"/>
              <a:t>('output_eda.png', dpi=150, </a:t>
            </a:r>
            <a:r>
              <a:rPr lang="en-IN" sz="800" dirty="0" err="1"/>
              <a:t>bbox_inches</a:t>
            </a:r>
            <a:r>
              <a:rPr lang="en-IN" sz="800" dirty="0"/>
              <a:t>='tight', </a:t>
            </a:r>
            <a:r>
              <a:rPr lang="en-IN" sz="800" dirty="0" err="1"/>
              <a:t>facecolor</a:t>
            </a:r>
            <a:r>
              <a:rPr lang="en-IN" sz="800" dirty="0"/>
              <a:t>='white')</a:t>
            </a:r>
          </a:p>
        </p:txBody>
      </p:sp>
    </p:spTree>
    <p:extLst>
      <p:ext uri="{BB962C8B-B14F-4D97-AF65-F5344CB8AC3E}">
        <p14:creationId xmlns:p14="http://schemas.microsoft.com/office/powerpoint/2010/main" val="3386120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46304"/>
            <a:ext cx="10972800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3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87680" y="804672"/>
            <a:ext cx="1121664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500" dirty="0">
                <a:solidFill>
                  <a:srgbClr val="94A3B8"/>
                </a:solidFill>
              </a:rPr>
              <a:t>Sales trends, spend mix, seasonal patterns, correlation structure and digital channel breakdown</a:t>
            </a:r>
            <a:endParaRPr lang="en-US" sz="15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09" y="1170432"/>
            <a:ext cx="11844066" cy="559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85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9456"/>
            <a:ext cx="10972800" cy="70713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3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EDA Findings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48640" y="1121664"/>
            <a:ext cx="5547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21664"/>
            <a:ext cx="97536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243584"/>
            <a:ext cx="5120640" cy="4632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E3A8A"/>
                </a:solidFill>
              </a:rPr>
              <a:t>📈  Upward Sales Trend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1706880"/>
            <a:ext cx="5120640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consistently from 2019 to 2022. Average monthly sales rose ~15% YoY, reflecting brand strength and expanding distribution network.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76416" y="1121664"/>
            <a:ext cx="5547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76416" y="1121664"/>
            <a:ext cx="97536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595872" y="1243584"/>
            <a:ext cx="5120640" cy="4632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E3A8A"/>
                </a:solidFill>
              </a:rPr>
              <a:t>🦠  COVID-19 Shock (Mar–Jun 2020)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95872" y="1706880"/>
            <a:ext cx="5120640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demand disruption is clearly visible. </a:t>
            </a:r>
            <a:r>
              <a:rPr lang="en-US" sz="140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showed a sharp dip,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necessitating a COVID dummy variable in the model.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547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26080"/>
            <a:ext cx="97536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048000"/>
            <a:ext cx="5120640" cy="4632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E3A8A"/>
                </a:solidFill>
              </a:rPr>
              <a:t>📅  Strong Seasonality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8096" y="3511296"/>
            <a:ext cx="5120640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76416" y="2926080"/>
            <a:ext cx="5547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76416" y="2926080"/>
            <a:ext cx="97536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595872" y="3048000"/>
            <a:ext cx="5120640" cy="4632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E3A8A"/>
                </a:solidFill>
              </a:rPr>
              <a:t>💻  Digital Spends Growing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95872" y="3511296"/>
            <a:ext cx="5120640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channel spends grew as a share of total media budget year-over-year. YouTube and FB/IG dominate at ~60% of total digital spend.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30496"/>
            <a:ext cx="5547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730496"/>
            <a:ext cx="97536" cy="1645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852416"/>
            <a:ext cx="5120640" cy="4632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E3A8A"/>
                </a:solidFill>
              </a:rPr>
              <a:t>📺  TV </a:t>
            </a:r>
            <a:r>
              <a:rPr lang="en-US" sz="1600" b="1" dirty="0" smtClean="0">
                <a:solidFill>
                  <a:srgbClr val="1E3A8A"/>
                </a:solidFill>
              </a:rPr>
              <a:t>Dominates(38%) </a:t>
            </a:r>
            <a:r>
              <a:rPr lang="en-US" sz="1600" b="1" dirty="0">
                <a:solidFill>
                  <a:srgbClr val="1E3A8A"/>
                </a:solidFill>
              </a:rPr>
              <a:t>Spend Mix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8096" y="5315712"/>
            <a:ext cx="5120640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400" dirty="0">
                <a:solidFill>
                  <a:srgbClr val="334155"/>
                </a:solidFill>
                <a:ea typeface="Calibri" panose="020F0502020204030204" pitchFamily="34" charset="-122"/>
                <a:cs typeface="Calibri" panose="020F0502020204030204" pitchFamily="34" charset="-120"/>
              </a:rPr>
              <a:t>TV spend was HIGHER in early years (2019–20) when sales were lower — spurious negative correlation risk</a:t>
            </a:r>
            <a:r>
              <a:rPr lang="en-US" sz="1400" dirty="0" smtClean="0">
                <a:solidFill>
                  <a:srgbClr val="334155"/>
                </a:solidFill>
                <a:ea typeface="Calibri" panose="020F0502020204030204" pitchFamily="34" charset="-122"/>
                <a:cs typeface="Calibri" panose="020F0502020204030204" pitchFamily="34" charset="-120"/>
              </a:rPr>
              <a:t>. </a:t>
            </a:r>
            <a:r>
              <a:rPr lang="en-US" sz="1400" dirty="0" smtClean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GRP model fixes negative coefficient issue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76416" y="4730496"/>
            <a:ext cx="5547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76416" y="4730496"/>
            <a:ext cx="97536" cy="1645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6595872" y="4852416"/>
            <a:ext cx="5120640" cy="4632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E3A8A"/>
                </a:solidFill>
              </a:rPr>
              <a:t>🔗  Organic Correlation with Distribution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95872" y="5315712"/>
            <a:ext cx="5120640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(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wtd_dist_max</a:t>
            </a:r>
            <a:r>
              <a:rPr lang="en-US" sz="140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400" dirty="0" smtClean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expanded from 59.8 → 64.1 — major growth driver.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845389" y="3648974"/>
            <a:ext cx="450298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seasonality: Oct, Nov, Dec consistently outperform (+12% </a:t>
            </a:r>
            <a:r>
              <a:rPr lang="en-US" sz="1400" dirty="0" err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</a:t>
            </a: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).</a:t>
            </a:r>
            <a:endParaRPr lang="en-US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750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9456"/>
            <a:ext cx="11216640" cy="6705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35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OLS Model Building — 4-Iteration Approach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3385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97536" cy="1280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92480" y="1170432"/>
            <a:ext cx="6108652" cy="4267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D97706"/>
                </a:solidFill>
              </a:rPr>
              <a:t>Model 1 — Initial </a:t>
            </a:r>
            <a:r>
              <a:rPr lang="en-US" sz="1600" b="1" dirty="0" smtClean="0">
                <a:solidFill>
                  <a:srgbClr val="D97706"/>
                </a:solidFill>
              </a:rPr>
              <a:t>OLS, Added Lag (R-squared: 0.932)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2480" y="1609344"/>
            <a:ext cx="5852160" cy="6705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Variables: </a:t>
            </a:r>
            <a:r>
              <a:rPr lang="en-US" sz="1300" dirty="0" smtClean="0">
                <a:solidFill>
                  <a:srgbClr val="374151"/>
                </a:solidFill>
              </a:rPr>
              <a:t>log_tv_adstock</a:t>
            </a:r>
            <a:r>
              <a:rPr lang="en-US" sz="1300" dirty="0">
                <a:solidFill>
                  <a:srgbClr val="374151"/>
                </a:solidFill>
              </a:rPr>
              <a:t>, </a:t>
            </a:r>
            <a:r>
              <a:rPr lang="en-US" sz="1300" dirty="0" smtClean="0">
                <a:solidFill>
                  <a:srgbClr val="374151"/>
                </a:solidFill>
              </a:rPr>
              <a:t>log_newspaper</a:t>
            </a:r>
            <a:r>
              <a:rPr lang="en-US" sz="1300" dirty="0">
                <a:solidFill>
                  <a:srgbClr val="374151"/>
                </a:solidFill>
              </a:rPr>
              <a:t>_</a:t>
            </a:r>
            <a:r>
              <a:rPr lang="en-US" sz="1300" dirty="0" smtClean="0">
                <a:solidFill>
                  <a:srgbClr val="374151"/>
                </a:solidFill>
              </a:rPr>
              <a:t>adstock</a:t>
            </a:r>
            <a:r>
              <a:rPr lang="en-US" sz="1300" dirty="0">
                <a:solidFill>
                  <a:srgbClr val="374151"/>
                </a:solidFill>
              </a:rPr>
              <a:t>, </a:t>
            </a:r>
            <a:r>
              <a:rPr lang="en-US" sz="1300" dirty="0" smtClean="0">
                <a:solidFill>
                  <a:srgbClr val="374151"/>
                </a:solidFill>
              </a:rPr>
              <a:t>log_digital</a:t>
            </a:r>
            <a:r>
              <a:rPr lang="en-US" sz="1300" dirty="0">
                <a:solidFill>
                  <a:srgbClr val="374151"/>
                </a:solidFill>
              </a:rPr>
              <a:t>_</a:t>
            </a:r>
            <a:r>
              <a:rPr lang="en-US" sz="1300" dirty="0" smtClean="0">
                <a:solidFill>
                  <a:srgbClr val="374151"/>
                </a:solidFill>
              </a:rPr>
              <a:t>adstock</a:t>
            </a:r>
            <a:r>
              <a:rPr lang="en-US" sz="1300" dirty="0">
                <a:solidFill>
                  <a:srgbClr val="374151"/>
                </a:solidFill>
              </a:rPr>
              <a:t>, </a:t>
            </a:r>
            <a:r>
              <a:rPr lang="en-US" sz="1300" dirty="0" smtClean="0">
                <a:solidFill>
                  <a:srgbClr val="374151"/>
                </a:solidFill>
              </a:rPr>
              <a:t>log_trade _promo_adstock</a:t>
            </a:r>
            <a:r>
              <a:rPr lang="en-US" sz="1300" dirty="0">
                <a:solidFill>
                  <a:srgbClr val="374151"/>
                </a:solidFill>
              </a:rPr>
              <a:t>, 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log_consumer_promo_spends_mn </a:t>
            </a:r>
            <a:r>
              <a:rPr lang="en-US" sz="13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log_wtd_dist_max </a:t>
            </a:r>
            <a:r>
              <a:rPr lang="en-US" sz="13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log_competition_tv_spends</a:t>
            </a:r>
            <a:r>
              <a:rPr lang="en-US" sz="1300" dirty="0" smtClean="0">
                <a:solidFill>
                  <a:srgbClr val="374151"/>
                </a:solidFill>
              </a:rPr>
              <a:t>, covid_dummy</a:t>
            </a:r>
            <a:r>
              <a:rPr lang="en-US" sz="1300" dirty="0">
                <a:solidFill>
                  <a:srgbClr val="374151"/>
                </a:solidFill>
              </a:rPr>
              <a:t>, </a:t>
            </a:r>
            <a:r>
              <a:rPr lang="en-US" sz="1300" dirty="0" smtClean="0">
                <a:solidFill>
                  <a:srgbClr val="374151"/>
                </a:solidFill>
              </a:rPr>
              <a:t>trend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1194816"/>
            <a:ext cx="4754880" cy="10728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High VIF (10+) for Distribution &amp; Trend. </a:t>
            </a: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 (</a:t>
            </a:r>
            <a:r>
              <a:rPr lang="en-US" sz="1300" dirty="0" smtClean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DW=2.455). </a:t>
            </a: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insignificant variables.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99360"/>
            <a:ext cx="113385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99360"/>
            <a:ext cx="97536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92479" y="2572512"/>
            <a:ext cx="7126569" cy="4267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2563EB"/>
                </a:solidFill>
              </a:rPr>
              <a:t>Model 2 </a:t>
            </a:r>
            <a:r>
              <a:rPr lang="en-US" sz="1600" b="1" dirty="0" smtClean="0">
                <a:solidFill>
                  <a:srgbClr val="2563EB"/>
                </a:solidFill>
              </a:rPr>
              <a:t>— </a:t>
            </a:r>
            <a:r>
              <a:rPr lang="en-US" sz="1600" b="1" dirty="0">
                <a:solidFill>
                  <a:srgbClr val="2563EB"/>
                </a:solidFill>
              </a:rPr>
              <a:t>Removed </a:t>
            </a:r>
            <a:r>
              <a:rPr lang="en-US" sz="1600" b="1" dirty="0">
                <a:solidFill>
                  <a:srgbClr val="2563EB"/>
                </a:solidFill>
              </a:rPr>
              <a:t> </a:t>
            </a:r>
            <a:r>
              <a:rPr lang="en-US" sz="1600" b="1" dirty="0" smtClean="0">
                <a:solidFill>
                  <a:srgbClr val="2563EB"/>
                </a:solidFill>
              </a:rPr>
              <a:t>Multicollinearity (R-squared: 0.906)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2480" y="3011424"/>
            <a:ext cx="5852160" cy="6705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Variables: All Model 1 except Trend → Added Lag(Sales) to handle autocorrelation. Distribution and trend correlated — use only distribution.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2596896"/>
            <a:ext cx="4754880" cy="10728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Lag variable has VIF ~10. Consumer Promo (p=0.76) and Trade Promo (p=0.42) are statistically weak.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01440"/>
            <a:ext cx="113385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01440"/>
            <a:ext cx="97536" cy="1280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92480" y="3974592"/>
            <a:ext cx="9231414" cy="4267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7C3AED"/>
                </a:solidFill>
              </a:rPr>
              <a:t>Model 3 — Refined — Dropped </a:t>
            </a:r>
            <a:r>
              <a:rPr lang="en-US" sz="1600" b="1" dirty="0" smtClean="0">
                <a:solidFill>
                  <a:srgbClr val="7C3AED"/>
                </a:solidFill>
              </a:rPr>
              <a:t>Insignificant variables, fix Multicollinearity(R-squared:0.927)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2480" y="4413504"/>
            <a:ext cx="5852160" cy="6705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Variables: </a:t>
            </a:r>
            <a:r>
              <a:rPr lang="en-US" sz="1300" dirty="0" smtClean="0">
                <a:solidFill>
                  <a:srgbClr val="374151"/>
                </a:solidFill>
              </a:rPr>
              <a:t>log_tv_adstock</a:t>
            </a:r>
            <a:r>
              <a:rPr lang="en-US" sz="1300" dirty="0">
                <a:solidFill>
                  <a:srgbClr val="374151"/>
                </a:solidFill>
              </a:rPr>
              <a:t>, </a:t>
            </a:r>
            <a:r>
              <a:rPr lang="en-US" sz="1300" dirty="0" smtClean="0">
                <a:solidFill>
                  <a:srgbClr val="374151"/>
                </a:solidFill>
              </a:rPr>
              <a:t>log_newspaper</a:t>
            </a:r>
            <a:r>
              <a:rPr lang="en-US" sz="1300" dirty="0">
                <a:solidFill>
                  <a:srgbClr val="374151"/>
                </a:solidFill>
              </a:rPr>
              <a:t>_</a:t>
            </a:r>
            <a:r>
              <a:rPr lang="en-US" sz="1300" dirty="0" smtClean="0">
                <a:solidFill>
                  <a:srgbClr val="374151"/>
                </a:solidFill>
              </a:rPr>
              <a:t>adstock</a:t>
            </a:r>
            <a:r>
              <a:rPr lang="en-US" sz="1300" dirty="0">
                <a:solidFill>
                  <a:srgbClr val="374151"/>
                </a:solidFill>
              </a:rPr>
              <a:t>, </a:t>
            </a:r>
            <a:r>
              <a:rPr lang="en-US" sz="1300" dirty="0" smtClean="0">
                <a:solidFill>
                  <a:srgbClr val="374151"/>
                </a:solidFill>
              </a:rPr>
              <a:t>log_digital</a:t>
            </a:r>
            <a:r>
              <a:rPr lang="en-US" sz="1300" dirty="0">
                <a:solidFill>
                  <a:srgbClr val="374151"/>
                </a:solidFill>
              </a:rPr>
              <a:t>_</a:t>
            </a:r>
            <a:r>
              <a:rPr lang="en-US" sz="1300" dirty="0" smtClean="0">
                <a:solidFill>
                  <a:srgbClr val="374151"/>
                </a:solidFill>
              </a:rPr>
              <a:t>adstock</a:t>
            </a:r>
            <a:r>
              <a:rPr lang="en-US" sz="1300" dirty="0">
                <a:solidFill>
                  <a:srgbClr val="374151"/>
                </a:solidFill>
              </a:rPr>
              <a:t>, </a:t>
            </a:r>
            <a:r>
              <a:rPr lang="en-US" sz="1300" dirty="0" smtClean="0">
                <a:solidFill>
                  <a:srgbClr val="374151"/>
                </a:solidFill>
              </a:rPr>
              <a:t>log_trade_promo</a:t>
            </a:r>
            <a:r>
              <a:rPr lang="en-US" sz="1300" dirty="0">
                <a:solidFill>
                  <a:srgbClr val="374151"/>
                </a:solidFill>
              </a:rPr>
              <a:t>_</a:t>
            </a:r>
            <a:r>
              <a:rPr lang="en-US" sz="1300" dirty="0" smtClean="0">
                <a:solidFill>
                  <a:srgbClr val="374151"/>
                </a:solidFill>
              </a:rPr>
              <a:t>adstock</a:t>
            </a:r>
            <a:r>
              <a:rPr lang="en-US" sz="1300" dirty="0">
                <a:solidFill>
                  <a:srgbClr val="374151"/>
                </a:solidFill>
              </a:rPr>
              <a:t>, </a:t>
            </a:r>
            <a:r>
              <a:rPr lang="en-US" sz="1300" dirty="0" smtClean="0">
                <a:solidFill>
                  <a:srgbClr val="374151"/>
                </a:solidFill>
              </a:rPr>
              <a:t>log_num_dist, covid_dummy</a:t>
            </a:r>
            <a:r>
              <a:rPr lang="en-US" sz="1300" dirty="0">
                <a:solidFill>
                  <a:srgbClr val="374151"/>
                </a:solidFill>
              </a:rPr>
              <a:t>, </a:t>
            </a:r>
            <a:r>
              <a:rPr lang="en-US" sz="1300" dirty="0" smtClean="0">
                <a:solidFill>
                  <a:srgbClr val="374151"/>
                </a:solidFill>
              </a:rPr>
              <a:t>sales_lag(1)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3998976"/>
            <a:ext cx="4754880" cy="10728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Lag &amp; num_dist still borderline correlated. Coefficients harder to interpret due to lag presence.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113385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5303520"/>
            <a:ext cx="97536" cy="1280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792480" y="5376672"/>
            <a:ext cx="4357490" cy="4267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6A34A"/>
                </a:solidFill>
              </a:rPr>
              <a:t>Model 4 — </a:t>
            </a:r>
            <a:r>
              <a:rPr lang="en-US" sz="1600" b="1" dirty="0" smtClean="0">
                <a:solidFill>
                  <a:srgbClr val="16A34A"/>
                </a:solidFill>
              </a:rPr>
              <a:t> </a:t>
            </a:r>
            <a:r>
              <a:rPr lang="en-US" sz="1600" b="1" dirty="0">
                <a:solidFill>
                  <a:srgbClr val="16A34A"/>
                </a:solidFill>
              </a:rPr>
              <a:t>Clean Model </a:t>
            </a:r>
            <a:r>
              <a:rPr lang="en-US" sz="1600" b="1" dirty="0" smtClean="0">
                <a:solidFill>
                  <a:srgbClr val="16A34A"/>
                </a:solidFill>
              </a:rPr>
              <a:t>(R-squared: 0.929)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2480" y="5815584"/>
            <a:ext cx="5852160" cy="6705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74151"/>
                </a:solidFill>
              </a:rPr>
              <a:t>Variables: </a:t>
            </a:r>
            <a:r>
              <a:rPr lang="en-US" sz="1300" dirty="0">
                <a:solidFill>
                  <a:srgbClr val="374151"/>
                </a:solidFill>
              </a:rPr>
              <a:t>log_tv_adstock, log_newspaper_adstock, log_digital_adstock, log_trade_promo_adstock, 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log_wtd_dist_max </a:t>
            </a:r>
            <a:r>
              <a:rPr lang="en-IN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covid_dummy, trend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6560" y="5401056"/>
            <a:ext cx="4754880" cy="10728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400" dirty="0">
                <a:solidFill>
                  <a:srgbClr val="00B050"/>
                </a:solidFill>
              </a:rPr>
              <a:t>The condition number is large, 4.34e+03. This might indicate that there are strong multicollinearity or other numerical problems.</a:t>
            </a:r>
            <a:endParaRPr lang="en-US" sz="13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663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6479" y="173329"/>
            <a:ext cx="112009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OLS Model — </a:t>
            </a:r>
            <a:r>
              <a:rPr lang="en-US" sz="3200" b="1" dirty="0" smtClean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Codes( Model 1, Model 2, Model 3, Model 4)</a:t>
            </a:r>
            <a:endParaRPr lang="en-US" sz="3200" dirty="0"/>
          </a:p>
        </p:txBody>
      </p:sp>
      <p:sp>
        <p:nvSpPr>
          <p:cNvPr id="3" name="Shape 3"/>
          <p:cNvSpPr/>
          <p:nvPr/>
        </p:nvSpPr>
        <p:spPr>
          <a:xfrm>
            <a:off x="77637" y="1020280"/>
            <a:ext cx="2665563" cy="56235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3"/>
          <p:cNvSpPr/>
          <p:nvPr/>
        </p:nvSpPr>
        <p:spPr>
          <a:xfrm>
            <a:off x="2846718" y="1020280"/>
            <a:ext cx="3158130" cy="56235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31453" y="1020280"/>
            <a:ext cx="2969416" cy="56235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Box 6"/>
          <p:cNvSpPr txBox="1"/>
          <p:nvPr/>
        </p:nvSpPr>
        <p:spPr>
          <a:xfrm>
            <a:off x="181155" y="1127474"/>
            <a:ext cx="2484407" cy="5209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50" dirty="0">
                <a:solidFill>
                  <a:schemeClr val="bg1"/>
                </a:solidFill>
              </a:rPr>
              <a:t>df['date'] = </a:t>
            </a:r>
            <a:r>
              <a:rPr lang="en-IN" sz="950" dirty="0" err="1">
                <a:solidFill>
                  <a:schemeClr val="bg1"/>
                </a:solidFill>
              </a:rPr>
              <a:t>pd.to_datetime</a:t>
            </a:r>
            <a:r>
              <a:rPr lang="en-IN" sz="950" dirty="0">
                <a:solidFill>
                  <a:schemeClr val="bg1"/>
                </a:solidFill>
              </a:rPr>
              <a:t>(df['date'])</a:t>
            </a:r>
          </a:p>
          <a:p>
            <a:r>
              <a:rPr lang="en-IN" sz="950" dirty="0">
                <a:solidFill>
                  <a:schemeClr val="bg1"/>
                </a:solidFill>
              </a:rPr>
              <a:t>df = </a:t>
            </a:r>
            <a:r>
              <a:rPr lang="en-IN" sz="950" dirty="0" err="1">
                <a:solidFill>
                  <a:schemeClr val="bg1"/>
                </a:solidFill>
              </a:rPr>
              <a:t>df.sort_values</a:t>
            </a:r>
            <a:r>
              <a:rPr lang="en-IN" sz="950" dirty="0">
                <a:solidFill>
                  <a:schemeClr val="bg1"/>
                </a:solidFill>
              </a:rPr>
              <a:t>('date').</a:t>
            </a:r>
            <a:r>
              <a:rPr lang="en-IN" sz="950" dirty="0" err="1">
                <a:solidFill>
                  <a:schemeClr val="bg1"/>
                </a:solidFill>
              </a:rPr>
              <a:t>reset_index</a:t>
            </a:r>
            <a:r>
              <a:rPr lang="en-IN" sz="950" dirty="0">
                <a:solidFill>
                  <a:schemeClr val="bg1"/>
                </a:solidFill>
              </a:rPr>
              <a:t>(drop=True)</a:t>
            </a:r>
          </a:p>
          <a:p>
            <a:r>
              <a:rPr lang="en-IN" sz="950" dirty="0">
                <a:solidFill>
                  <a:schemeClr val="bg1"/>
                </a:solidFill>
              </a:rPr>
              <a:t># COVID dummy</a:t>
            </a:r>
          </a:p>
          <a:p>
            <a:r>
              <a:rPr lang="en-IN" sz="950" dirty="0">
                <a:solidFill>
                  <a:schemeClr val="bg1"/>
                </a:solidFill>
              </a:rPr>
              <a:t>df['</a:t>
            </a:r>
            <a:r>
              <a:rPr lang="en-IN" sz="950" dirty="0" err="1">
                <a:solidFill>
                  <a:schemeClr val="bg1"/>
                </a:solidFill>
              </a:rPr>
              <a:t>covid_dummy</a:t>
            </a:r>
            <a:r>
              <a:rPr lang="en-IN" sz="950" dirty="0">
                <a:solidFill>
                  <a:schemeClr val="bg1"/>
                </a:solidFill>
              </a:rPr>
              <a:t>'] = ((df['date'] &gt;= '2020-03-01') &amp; (df['date'] &lt;= '2020-06-01')).</a:t>
            </a:r>
            <a:r>
              <a:rPr lang="en-IN" sz="950" dirty="0" err="1">
                <a:solidFill>
                  <a:schemeClr val="bg1"/>
                </a:solidFill>
              </a:rPr>
              <a:t>astype</a:t>
            </a:r>
            <a:r>
              <a:rPr lang="en-IN" sz="950" dirty="0">
                <a:solidFill>
                  <a:schemeClr val="bg1"/>
                </a:solidFill>
              </a:rPr>
              <a:t>(</a:t>
            </a:r>
            <a:r>
              <a:rPr lang="en-IN" sz="950" dirty="0" err="1">
                <a:solidFill>
                  <a:schemeClr val="bg1"/>
                </a:solidFill>
              </a:rPr>
              <a:t>int</a:t>
            </a:r>
            <a:r>
              <a:rPr lang="en-IN" sz="950" dirty="0">
                <a:solidFill>
                  <a:schemeClr val="bg1"/>
                </a:solidFill>
              </a:rPr>
              <a:t>)</a:t>
            </a:r>
          </a:p>
          <a:p>
            <a:r>
              <a:rPr lang="en-IN" sz="950" dirty="0">
                <a:solidFill>
                  <a:schemeClr val="bg1"/>
                </a:solidFill>
              </a:rPr>
              <a:t># Trend</a:t>
            </a:r>
          </a:p>
          <a:p>
            <a:r>
              <a:rPr lang="en-IN" sz="950" dirty="0">
                <a:solidFill>
                  <a:schemeClr val="bg1"/>
                </a:solidFill>
              </a:rPr>
              <a:t>df['trend'] = </a:t>
            </a:r>
            <a:r>
              <a:rPr lang="en-IN" sz="950" dirty="0" err="1">
                <a:solidFill>
                  <a:schemeClr val="bg1"/>
                </a:solidFill>
              </a:rPr>
              <a:t>np.arange</a:t>
            </a:r>
            <a:r>
              <a:rPr lang="en-IN" sz="950" dirty="0">
                <a:solidFill>
                  <a:schemeClr val="bg1"/>
                </a:solidFill>
              </a:rPr>
              <a:t>(</a:t>
            </a:r>
            <a:r>
              <a:rPr lang="en-IN" sz="950" dirty="0" err="1">
                <a:solidFill>
                  <a:schemeClr val="bg1"/>
                </a:solidFill>
              </a:rPr>
              <a:t>len</a:t>
            </a:r>
            <a:r>
              <a:rPr lang="en-IN" sz="950" dirty="0">
                <a:solidFill>
                  <a:schemeClr val="bg1"/>
                </a:solidFill>
              </a:rPr>
              <a:t>(df))</a:t>
            </a:r>
          </a:p>
          <a:p>
            <a:r>
              <a:rPr lang="en-IN" sz="950" dirty="0">
                <a:solidFill>
                  <a:schemeClr val="bg1"/>
                </a:solidFill>
              </a:rPr>
              <a:t/>
            </a:r>
            <a:br>
              <a:rPr lang="en-IN" sz="950" dirty="0">
                <a:solidFill>
                  <a:schemeClr val="bg1"/>
                </a:solidFill>
              </a:rPr>
            </a:br>
            <a:r>
              <a:rPr lang="en-IN" sz="950" dirty="0">
                <a:solidFill>
                  <a:schemeClr val="bg1"/>
                </a:solidFill>
              </a:rPr>
              <a:t>Y = df['</a:t>
            </a:r>
            <a:r>
              <a:rPr lang="en-IN" sz="950" dirty="0" err="1">
                <a:solidFill>
                  <a:schemeClr val="bg1"/>
                </a:solidFill>
              </a:rPr>
              <a:t>kpi_val_sales_mn</a:t>
            </a:r>
            <a:r>
              <a:rPr lang="en-IN" sz="950" dirty="0">
                <a:solidFill>
                  <a:schemeClr val="bg1"/>
                </a:solidFill>
              </a:rPr>
              <a:t>']</a:t>
            </a:r>
          </a:p>
          <a:p>
            <a:r>
              <a:rPr lang="en-IN" sz="950" dirty="0">
                <a:solidFill>
                  <a:schemeClr val="bg1"/>
                </a:solidFill>
              </a:rPr>
              <a:t># ─── MODEL 1: Initial OLS ──────────────────────────────────────────────────────</a:t>
            </a:r>
          </a:p>
          <a:p>
            <a:r>
              <a:rPr lang="en-IN" sz="950" dirty="0">
                <a:solidFill>
                  <a:schemeClr val="bg1"/>
                </a:solidFill>
              </a:rPr>
              <a:t>X1_cols = ['log_tv_</a:t>
            </a:r>
            <a:r>
              <a:rPr lang="en-IN" sz="950" dirty="0" err="1">
                <a:solidFill>
                  <a:schemeClr val="bg1"/>
                </a:solidFill>
              </a:rPr>
              <a:t>adstock</a:t>
            </a:r>
            <a:r>
              <a:rPr lang="en-IN" sz="950" dirty="0">
                <a:solidFill>
                  <a:schemeClr val="bg1"/>
                </a:solidFill>
              </a:rPr>
              <a:t>','log_newspaper_</a:t>
            </a:r>
            <a:r>
              <a:rPr lang="en-IN" sz="950" dirty="0" err="1">
                <a:solidFill>
                  <a:schemeClr val="bg1"/>
                </a:solidFill>
              </a:rPr>
              <a:t>adstock</a:t>
            </a:r>
            <a:r>
              <a:rPr lang="en-IN" sz="950" dirty="0">
                <a:solidFill>
                  <a:schemeClr val="bg1"/>
                </a:solidFill>
              </a:rPr>
              <a:t>','</a:t>
            </a:r>
            <a:r>
              <a:rPr lang="en-IN" sz="950" dirty="0" err="1">
                <a:solidFill>
                  <a:schemeClr val="bg1"/>
                </a:solidFill>
              </a:rPr>
              <a:t>log_digital_adstock</a:t>
            </a:r>
            <a:r>
              <a:rPr lang="en-IN" sz="950" dirty="0">
                <a:solidFill>
                  <a:schemeClr val="bg1"/>
                </a:solidFill>
              </a:rPr>
              <a:t>',</a:t>
            </a:r>
          </a:p>
          <a:p>
            <a:r>
              <a:rPr lang="en-IN" sz="950" dirty="0">
                <a:solidFill>
                  <a:schemeClr val="bg1"/>
                </a:solidFill>
              </a:rPr>
              <a:t>           'log_trade_promo_</a:t>
            </a:r>
            <a:r>
              <a:rPr lang="en-IN" sz="950" dirty="0" err="1">
                <a:solidFill>
                  <a:schemeClr val="bg1"/>
                </a:solidFill>
              </a:rPr>
              <a:t>adstock</a:t>
            </a:r>
            <a:r>
              <a:rPr lang="en-IN" sz="950" dirty="0">
                <a:solidFill>
                  <a:schemeClr val="bg1"/>
                </a:solidFill>
              </a:rPr>
              <a:t>','</a:t>
            </a:r>
            <a:r>
              <a:rPr lang="en-IN" sz="950" dirty="0" err="1">
                <a:solidFill>
                  <a:schemeClr val="bg1"/>
                </a:solidFill>
              </a:rPr>
              <a:t>log_consumer_promo_spends_mn</a:t>
            </a:r>
            <a:r>
              <a:rPr lang="en-IN" sz="950" dirty="0">
                <a:solidFill>
                  <a:schemeClr val="bg1"/>
                </a:solidFill>
              </a:rPr>
              <a:t>',</a:t>
            </a:r>
          </a:p>
          <a:p>
            <a:r>
              <a:rPr lang="en-IN" sz="950" dirty="0">
                <a:solidFill>
                  <a:schemeClr val="bg1"/>
                </a:solidFill>
              </a:rPr>
              <a:t>           'log_wtd_dist_max','log_competition_tv_spends','covid_dummy','trend']</a:t>
            </a:r>
          </a:p>
          <a:p>
            <a:r>
              <a:rPr lang="en-IN" sz="950" dirty="0">
                <a:solidFill>
                  <a:schemeClr val="bg1"/>
                </a:solidFill>
              </a:rPr>
              <a:t>X1 = </a:t>
            </a:r>
            <a:r>
              <a:rPr lang="en-IN" sz="950" dirty="0" err="1">
                <a:solidFill>
                  <a:schemeClr val="bg1"/>
                </a:solidFill>
              </a:rPr>
              <a:t>add_constant</a:t>
            </a:r>
            <a:r>
              <a:rPr lang="en-IN" sz="950" dirty="0">
                <a:solidFill>
                  <a:schemeClr val="bg1"/>
                </a:solidFill>
              </a:rPr>
              <a:t>(df[X1_cols])</a:t>
            </a:r>
          </a:p>
          <a:p>
            <a:r>
              <a:rPr lang="en-IN" sz="950" dirty="0">
                <a:solidFill>
                  <a:schemeClr val="bg1"/>
                </a:solidFill>
              </a:rPr>
              <a:t>model1 = OLS(Y, X1).fit()</a:t>
            </a:r>
          </a:p>
          <a:p>
            <a:r>
              <a:rPr lang="en-IN" sz="950" dirty="0">
                <a:solidFill>
                  <a:schemeClr val="bg1"/>
                </a:solidFill>
              </a:rPr>
              <a:t>print("=== MODEL 1: Initial OLS ===")</a:t>
            </a:r>
          </a:p>
          <a:p>
            <a:r>
              <a:rPr lang="en-IN" sz="950" dirty="0">
                <a:solidFill>
                  <a:schemeClr val="bg1"/>
                </a:solidFill>
              </a:rPr>
              <a:t>print(model1.summary())</a:t>
            </a:r>
          </a:p>
          <a:p>
            <a:r>
              <a:rPr lang="en-IN" sz="950" dirty="0">
                <a:solidFill>
                  <a:schemeClr val="bg1"/>
                </a:solidFill>
              </a:rPr>
              <a:t>print(f"\</a:t>
            </a:r>
            <a:r>
              <a:rPr lang="en-IN" sz="950" dirty="0" err="1">
                <a:solidFill>
                  <a:schemeClr val="bg1"/>
                </a:solidFill>
              </a:rPr>
              <a:t>nDurbin</a:t>
            </a:r>
            <a:r>
              <a:rPr lang="en-IN" sz="950" dirty="0">
                <a:solidFill>
                  <a:schemeClr val="bg1"/>
                </a:solidFill>
              </a:rPr>
              <a:t>-Watson: {</a:t>
            </a:r>
            <a:r>
              <a:rPr lang="en-IN" sz="950" dirty="0" err="1">
                <a:solidFill>
                  <a:schemeClr val="bg1"/>
                </a:solidFill>
              </a:rPr>
              <a:t>durbin_watson</a:t>
            </a:r>
            <a:r>
              <a:rPr lang="en-IN" sz="950" dirty="0">
                <a:solidFill>
                  <a:schemeClr val="bg1"/>
                </a:solidFill>
              </a:rPr>
              <a:t>(model1.resid):.4f}")</a:t>
            </a:r>
          </a:p>
          <a:p>
            <a:r>
              <a:rPr lang="en-IN" sz="950" dirty="0">
                <a:solidFill>
                  <a:schemeClr val="bg1"/>
                </a:solidFill>
              </a:rPr>
              <a:t># VIF check</a:t>
            </a:r>
          </a:p>
          <a:p>
            <a:r>
              <a:rPr lang="en-IN" sz="950" dirty="0" err="1">
                <a:solidFill>
                  <a:schemeClr val="bg1"/>
                </a:solidFill>
              </a:rPr>
              <a:t>vif_data</a:t>
            </a:r>
            <a:r>
              <a:rPr lang="en-IN" sz="950" dirty="0">
                <a:solidFill>
                  <a:schemeClr val="bg1"/>
                </a:solidFill>
              </a:rPr>
              <a:t> = </a:t>
            </a:r>
            <a:r>
              <a:rPr lang="en-IN" sz="950" dirty="0" err="1">
                <a:solidFill>
                  <a:schemeClr val="bg1"/>
                </a:solidFill>
              </a:rPr>
              <a:t>pd.DataFrame</a:t>
            </a:r>
            <a:r>
              <a:rPr lang="en-IN" sz="950" dirty="0">
                <a:solidFill>
                  <a:schemeClr val="bg1"/>
                </a:solidFill>
              </a:rPr>
              <a:t>()</a:t>
            </a:r>
          </a:p>
          <a:p>
            <a:r>
              <a:rPr lang="en-IN" sz="950" dirty="0" err="1">
                <a:solidFill>
                  <a:schemeClr val="bg1"/>
                </a:solidFill>
              </a:rPr>
              <a:t>vif_data</a:t>
            </a:r>
            <a:r>
              <a:rPr lang="en-IN" sz="950" dirty="0">
                <a:solidFill>
                  <a:schemeClr val="bg1"/>
                </a:solidFill>
              </a:rPr>
              <a:t>['Variable'] = X1_cols</a:t>
            </a:r>
          </a:p>
          <a:p>
            <a:r>
              <a:rPr lang="en-IN" sz="950" dirty="0" err="1">
                <a:solidFill>
                  <a:schemeClr val="bg1"/>
                </a:solidFill>
              </a:rPr>
              <a:t>vif_data</a:t>
            </a:r>
            <a:r>
              <a:rPr lang="en-IN" sz="950" dirty="0">
                <a:solidFill>
                  <a:schemeClr val="bg1"/>
                </a:solidFill>
              </a:rPr>
              <a:t>['VIF'] = [</a:t>
            </a:r>
            <a:r>
              <a:rPr lang="en-IN" sz="950" dirty="0" err="1">
                <a:solidFill>
                  <a:schemeClr val="bg1"/>
                </a:solidFill>
              </a:rPr>
              <a:t>variance_inflation_factor</a:t>
            </a:r>
            <a:r>
              <a:rPr lang="en-IN" sz="950" dirty="0">
                <a:solidFill>
                  <a:schemeClr val="bg1"/>
                </a:solidFill>
              </a:rPr>
              <a:t>(X1.values, i+1) for i in range(</a:t>
            </a:r>
            <a:r>
              <a:rPr lang="en-IN" sz="950" dirty="0" err="1">
                <a:solidFill>
                  <a:schemeClr val="bg1"/>
                </a:solidFill>
              </a:rPr>
              <a:t>len</a:t>
            </a:r>
            <a:r>
              <a:rPr lang="en-IN" sz="950" dirty="0">
                <a:solidFill>
                  <a:schemeClr val="bg1"/>
                </a:solidFill>
              </a:rPr>
              <a:t>(X1_cols))]</a:t>
            </a:r>
          </a:p>
          <a:p>
            <a:r>
              <a:rPr lang="en-IN" sz="950" dirty="0">
                <a:solidFill>
                  <a:schemeClr val="bg1"/>
                </a:solidFill>
              </a:rPr>
              <a:t>print("\n=== VIF (Model 1) ===")</a:t>
            </a:r>
          </a:p>
          <a:p>
            <a:r>
              <a:rPr lang="en-IN" sz="950" dirty="0">
                <a:solidFill>
                  <a:schemeClr val="bg1"/>
                </a:solidFill>
              </a:rPr>
              <a:t>print(</a:t>
            </a:r>
            <a:r>
              <a:rPr lang="en-IN" sz="950" dirty="0" err="1">
                <a:solidFill>
                  <a:schemeClr val="bg1"/>
                </a:solidFill>
              </a:rPr>
              <a:t>vif_data.sort_values</a:t>
            </a:r>
            <a:r>
              <a:rPr lang="en-IN" sz="950" dirty="0">
                <a:solidFill>
                  <a:schemeClr val="bg1"/>
                </a:solidFill>
              </a:rPr>
              <a:t>('VIF', ascending=False).</a:t>
            </a:r>
            <a:r>
              <a:rPr lang="en-IN" sz="950" dirty="0" err="1">
                <a:solidFill>
                  <a:schemeClr val="bg1"/>
                </a:solidFill>
              </a:rPr>
              <a:t>to_string</a:t>
            </a:r>
            <a:r>
              <a:rPr lang="en-IN" sz="950" dirty="0">
                <a:solidFill>
                  <a:schemeClr val="bg1"/>
                </a:solidFill>
              </a:rPr>
              <a:t>(index=False</a:t>
            </a:r>
            <a:r>
              <a:rPr lang="en-IN" sz="950" dirty="0" smtClean="0">
                <a:solidFill>
                  <a:schemeClr val="bg1"/>
                </a:solidFill>
              </a:rPr>
              <a:t>))</a:t>
            </a:r>
            <a:endParaRPr lang="en-IN" sz="95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7965" y="1138650"/>
            <a:ext cx="3096883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# ─── MODEL 2: Remove </a:t>
            </a:r>
            <a:r>
              <a:rPr lang="en-IN" sz="1000" dirty="0" err="1">
                <a:solidFill>
                  <a:schemeClr val="bg1"/>
                </a:solidFill>
              </a:rPr>
              <a:t>multicollinearity</a:t>
            </a:r>
            <a:r>
              <a:rPr lang="en-IN" sz="1000" dirty="0">
                <a:solidFill>
                  <a:schemeClr val="bg1"/>
                </a:solidFill>
              </a:rPr>
              <a:t> - drop trend (correlated with </a:t>
            </a:r>
            <a:r>
              <a:rPr lang="en-IN" sz="1000" dirty="0" err="1">
                <a:solidFill>
                  <a:schemeClr val="bg1"/>
                </a:solidFill>
              </a:rPr>
              <a:t>dist</a:t>
            </a:r>
            <a:r>
              <a:rPr lang="en-IN" sz="1000" dirty="0">
                <a:solidFill>
                  <a:schemeClr val="bg1"/>
                </a:solidFill>
              </a:rPr>
              <a:t>), refine ─</a:t>
            </a:r>
          </a:p>
          <a:p>
            <a:r>
              <a:rPr lang="en-IN" sz="1000" dirty="0">
                <a:solidFill>
                  <a:schemeClr val="bg1"/>
                </a:solidFill>
              </a:rPr>
              <a:t># Distribution is correlated with trend (both growing). Use distribution OR trend.</a:t>
            </a:r>
          </a:p>
          <a:p>
            <a:r>
              <a:rPr lang="en-IN" sz="1000" dirty="0">
                <a:solidFill>
                  <a:schemeClr val="bg1"/>
                </a:solidFill>
              </a:rPr>
              <a:t># VIFs are mostly OK (&lt; 5). Drop trend, keep dist. Drop competition (not significant).</a:t>
            </a:r>
          </a:p>
          <a:p>
            <a:r>
              <a:rPr lang="en-IN" sz="1000" dirty="0">
                <a:solidFill>
                  <a:schemeClr val="bg1"/>
                </a:solidFill>
              </a:rPr>
              <a:t># Lag Y by 1 period (autoregressive term to handle autocorrelation)</a:t>
            </a:r>
          </a:p>
          <a:p>
            <a:r>
              <a:rPr lang="en-IN" sz="1000" dirty="0">
                <a:solidFill>
                  <a:schemeClr val="bg1"/>
                </a:solidFill>
              </a:rPr>
              <a:t/>
            </a:r>
            <a:br>
              <a:rPr lang="en-IN" sz="1000" dirty="0">
                <a:solidFill>
                  <a:schemeClr val="bg1"/>
                </a:solidFill>
              </a:rPr>
            </a:br>
            <a:r>
              <a:rPr lang="en-IN" sz="1000" dirty="0">
                <a:solidFill>
                  <a:schemeClr val="bg1"/>
                </a:solidFill>
              </a:rPr>
              <a:t>df['sales_lag1'] = </a:t>
            </a:r>
            <a:r>
              <a:rPr lang="en-IN" sz="1000" dirty="0" err="1">
                <a:solidFill>
                  <a:schemeClr val="bg1"/>
                </a:solidFill>
              </a:rPr>
              <a:t>Y.shift</a:t>
            </a:r>
            <a:r>
              <a:rPr lang="en-IN" sz="1000" dirty="0">
                <a:solidFill>
                  <a:schemeClr val="bg1"/>
                </a:solidFill>
              </a:rPr>
              <a:t>(1)</a:t>
            </a:r>
          </a:p>
          <a:p>
            <a:r>
              <a:rPr lang="en-IN" sz="1000" dirty="0">
                <a:solidFill>
                  <a:schemeClr val="bg1"/>
                </a:solidFill>
              </a:rPr>
              <a:t>df2 = </a:t>
            </a:r>
            <a:r>
              <a:rPr lang="en-IN" sz="1000" dirty="0" err="1">
                <a:solidFill>
                  <a:schemeClr val="bg1"/>
                </a:solidFill>
              </a:rPr>
              <a:t>df.dropna</a:t>
            </a:r>
            <a:r>
              <a:rPr lang="en-IN" sz="1000" dirty="0">
                <a:solidFill>
                  <a:schemeClr val="bg1"/>
                </a:solidFill>
              </a:rPr>
              <a:t>(subset=['sales_lag1']).copy()</a:t>
            </a:r>
          </a:p>
          <a:p>
            <a:r>
              <a:rPr lang="en-IN" sz="1000" dirty="0">
                <a:solidFill>
                  <a:schemeClr val="bg1"/>
                </a:solidFill>
              </a:rPr>
              <a:t>Y2 = df2['</a:t>
            </a:r>
            <a:r>
              <a:rPr lang="en-IN" sz="1000" dirty="0" err="1">
                <a:solidFill>
                  <a:schemeClr val="bg1"/>
                </a:solidFill>
              </a:rPr>
              <a:t>kpi_val_sales_mn</a:t>
            </a:r>
            <a:r>
              <a:rPr lang="en-IN" sz="1000" dirty="0">
                <a:solidFill>
                  <a:schemeClr val="bg1"/>
                </a:solidFill>
              </a:rPr>
              <a:t>']</a:t>
            </a:r>
          </a:p>
          <a:p>
            <a:r>
              <a:rPr lang="en-IN" sz="1000" dirty="0">
                <a:solidFill>
                  <a:schemeClr val="bg1"/>
                </a:solidFill>
              </a:rPr>
              <a:t>X2_cols = ['log_tv_</a:t>
            </a:r>
            <a:r>
              <a:rPr lang="en-IN" sz="1000" dirty="0" err="1">
                <a:solidFill>
                  <a:schemeClr val="bg1"/>
                </a:solidFill>
              </a:rPr>
              <a:t>adstock</a:t>
            </a:r>
            <a:r>
              <a:rPr lang="en-IN" sz="1000" dirty="0">
                <a:solidFill>
                  <a:schemeClr val="bg1"/>
                </a:solidFill>
              </a:rPr>
              <a:t>','log_newspaper_</a:t>
            </a:r>
            <a:r>
              <a:rPr lang="en-IN" sz="1000" dirty="0" err="1">
                <a:solidFill>
                  <a:schemeClr val="bg1"/>
                </a:solidFill>
              </a:rPr>
              <a:t>adstock</a:t>
            </a:r>
            <a:r>
              <a:rPr lang="en-IN" sz="1000" dirty="0">
                <a:solidFill>
                  <a:schemeClr val="bg1"/>
                </a:solidFill>
              </a:rPr>
              <a:t>','</a:t>
            </a:r>
            <a:r>
              <a:rPr lang="en-IN" sz="1000" dirty="0" err="1">
                <a:solidFill>
                  <a:schemeClr val="bg1"/>
                </a:solidFill>
              </a:rPr>
              <a:t>log_digital_adstock</a:t>
            </a:r>
            <a:r>
              <a:rPr lang="en-IN" sz="1000" dirty="0">
                <a:solidFill>
                  <a:schemeClr val="bg1"/>
                </a:solidFill>
              </a:rPr>
              <a:t>',</a:t>
            </a:r>
          </a:p>
          <a:p>
            <a:r>
              <a:rPr lang="en-IN" sz="1000" dirty="0">
                <a:solidFill>
                  <a:schemeClr val="bg1"/>
                </a:solidFill>
              </a:rPr>
              <a:t>           'log_trade_promo_</a:t>
            </a:r>
            <a:r>
              <a:rPr lang="en-IN" sz="1000" dirty="0" err="1">
                <a:solidFill>
                  <a:schemeClr val="bg1"/>
                </a:solidFill>
              </a:rPr>
              <a:t>adstock</a:t>
            </a:r>
            <a:r>
              <a:rPr lang="en-IN" sz="1000" dirty="0">
                <a:solidFill>
                  <a:schemeClr val="bg1"/>
                </a:solidFill>
              </a:rPr>
              <a:t>','</a:t>
            </a:r>
            <a:r>
              <a:rPr lang="en-IN" sz="1000" dirty="0" err="1">
                <a:solidFill>
                  <a:schemeClr val="bg1"/>
                </a:solidFill>
              </a:rPr>
              <a:t>log_consumer_promo_spends_mn</a:t>
            </a:r>
            <a:r>
              <a:rPr lang="en-IN" sz="1000" dirty="0">
                <a:solidFill>
                  <a:schemeClr val="bg1"/>
                </a:solidFill>
              </a:rPr>
              <a:t>',</a:t>
            </a:r>
          </a:p>
          <a:p>
            <a:r>
              <a:rPr lang="en-IN" sz="1000" dirty="0">
                <a:solidFill>
                  <a:schemeClr val="bg1"/>
                </a:solidFill>
              </a:rPr>
              <a:t>           'log_wtd_dist_max','covid_dummy','sales_lag1']</a:t>
            </a:r>
          </a:p>
          <a:p>
            <a:r>
              <a:rPr lang="en-IN" sz="1000" dirty="0">
                <a:solidFill>
                  <a:schemeClr val="bg1"/>
                </a:solidFill>
              </a:rPr>
              <a:t>X2 = </a:t>
            </a:r>
            <a:r>
              <a:rPr lang="en-IN" sz="1000" dirty="0" err="1">
                <a:solidFill>
                  <a:schemeClr val="bg1"/>
                </a:solidFill>
              </a:rPr>
              <a:t>add_constant</a:t>
            </a:r>
            <a:r>
              <a:rPr lang="en-IN" sz="1000" dirty="0">
                <a:solidFill>
                  <a:schemeClr val="bg1"/>
                </a:solidFill>
              </a:rPr>
              <a:t>(df2[X2_cols])</a:t>
            </a:r>
          </a:p>
          <a:p>
            <a:r>
              <a:rPr lang="en-IN" sz="1000" dirty="0">
                <a:solidFill>
                  <a:schemeClr val="bg1"/>
                </a:solidFill>
              </a:rPr>
              <a:t>model2 = OLS(Y2, X2).fit()</a:t>
            </a:r>
          </a:p>
          <a:p>
            <a:r>
              <a:rPr lang="en-IN" sz="1000" dirty="0">
                <a:solidFill>
                  <a:schemeClr val="bg1"/>
                </a:solidFill>
              </a:rPr>
              <a:t>print("\n=== MODEL 2: With Lag, No Trend ===")</a:t>
            </a:r>
          </a:p>
          <a:p>
            <a:r>
              <a:rPr lang="en-IN" sz="1000" dirty="0">
                <a:solidFill>
                  <a:schemeClr val="bg1"/>
                </a:solidFill>
              </a:rPr>
              <a:t>print(model2.summary())</a:t>
            </a:r>
          </a:p>
          <a:p>
            <a:r>
              <a:rPr lang="en-IN" sz="1000" dirty="0">
                <a:solidFill>
                  <a:schemeClr val="bg1"/>
                </a:solidFill>
              </a:rPr>
              <a:t>dw2 = </a:t>
            </a:r>
            <a:r>
              <a:rPr lang="en-IN" sz="1000" dirty="0" err="1">
                <a:solidFill>
                  <a:schemeClr val="bg1"/>
                </a:solidFill>
              </a:rPr>
              <a:t>durbin_watson</a:t>
            </a:r>
            <a:r>
              <a:rPr lang="en-IN" sz="1000" dirty="0">
                <a:solidFill>
                  <a:schemeClr val="bg1"/>
                </a:solidFill>
              </a:rPr>
              <a:t>(model2.resid)</a:t>
            </a:r>
          </a:p>
          <a:p>
            <a:r>
              <a:rPr lang="en-IN" sz="1000" dirty="0">
                <a:solidFill>
                  <a:schemeClr val="bg1"/>
                </a:solidFill>
              </a:rPr>
              <a:t>print(f"\</a:t>
            </a:r>
            <a:r>
              <a:rPr lang="en-IN" sz="1000" dirty="0" err="1">
                <a:solidFill>
                  <a:schemeClr val="bg1"/>
                </a:solidFill>
              </a:rPr>
              <a:t>nDurbin</a:t>
            </a:r>
            <a:r>
              <a:rPr lang="en-IN" sz="1000" dirty="0">
                <a:solidFill>
                  <a:schemeClr val="bg1"/>
                </a:solidFill>
              </a:rPr>
              <a:t>-Watson: {dw2:.4f}")</a:t>
            </a:r>
          </a:p>
          <a:p>
            <a:r>
              <a:rPr lang="en-IN" sz="1000" dirty="0">
                <a:solidFill>
                  <a:schemeClr val="bg1"/>
                </a:solidFill>
              </a:rPr>
              <a:t>vif2 = </a:t>
            </a:r>
            <a:r>
              <a:rPr lang="en-IN" sz="1000" dirty="0" err="1">
                <a:solidFill>
                  <a:schemeClr val="bg1"/>
                </a:solidFill>
              </a:rPr>
              <a:t>pd.DataFrame</a:t>
            </a:r>
            <a:r>
              <a:rPr lang="en-IN" sz="1000" dirty="0">
                <a:solidFill>
                  <a:schemeClr val="bg1"/>
                </a:solidFill>
              </a:rPr>
              <a:t>()</a:t>
            </a:r>
          </a:p>
          <a:p>
            <a:r>
              <a:rPr lang="en-IN" sz="1000" dirty="0">
                <a:solidFill>
                  <a:schemeClr val="bg1"/>
                </a:solidFill>
              </a:rPr>
              <a:t>vif2['Variable'] = X2_cols</a:t>
            </a:r>
          </a:p>
          <a:p>
            <a:r>
              <a:rPr lang="en-IN" sz="1000" dirty="0">
                <a:solidFill>
                  <a:schemeClr val="bg1"/>
                </a:solidFill>
              </a:rPr>
              <a:t>vif2['VIF'] = [</a:t>
            </a:r>
            <a:r>
              <a:rPr lang="en-IN" sz="1000" dirty="0" err="1">
                <a:solidFill>
                  <a:schemeClr val="bg1"/>
                </a:solidFill>
              </a:rPr>
              <a:t>variance_inflation_factor</a:t>
            </a:r>
            <a:r>
              <a:rPr lang="en-IN" sz="1000" dirty="0">
                <a:solidFill>
                  <a:schemeClr val="bg1"/>
                </a:solidFill>
              </a:rPr>
              <a:t>(X2.values, i+1) for i in range(</a:t>
            </a:r>
            <a:r>
              <a:rPr lang="en-IN" sz="1000" dirty="0" err="1">
                <a:solidFill>
                  <a:schemeClr val="bg1"/>
                </a:solidFill>
              </a:rPr>
              <a:t>len</a:t>
            </a:r>
            <a:r>
              <a:rPr lang="en-IN" sz="1000" dirty="0">
                <a:solidFill>
                  <a:schemeClr val="bg1"/>
                </a:solidFill>
              </a:rPr>
              <a:t>(X2_cols))]</a:t>
            </a:r>
          </a:p>
          <a:p>
            <a:r>
              <a:rPr lang="en-IN" sz="1000" dirty="0">
                <a:solidFill>
                  <a:schemeClr val="bg1"/>
                </a:solidFill>
              </a:rPr>
              <a:t>print("\n=== VIF (Model 2) ===")</a:t>
            </a:r>
          </a:p>
          <a:p>
            <a:r>
              <a:rPr lang="en-IN" sz="1000" dirty="0">
                <a:solidFill>
                  <a:schemeClr val="bg1"/>
                </a:solidFill>
              </a:rPr>
              <a:t>print(vif2.sort_values('VIF', ascending=False).</a:t>
            </a:r>
            <a:r>
              <a:rPr lang="en-IN" sz="1000" dirty="0" err="1">
                <a:solidFill>
                  <a:schemeClr val="bg1"/>
                </a:solidFill>
              </a:rPr>
              <a:t>to_string</a:t>
            </a:r>
            <a:r>
              <a:rPr lang="en-IN" sz="1000" dirty="0">
                <a:solidFill>
                  <a:schemeClr val="bg1"/>
                </a:solidFill>
              </a:rPr>
              <a:t>(index=False</a:t>
            </a:r>
            <a:r>
              <a:rPr lang="en-IN" sz="1000" dirty="0" smtClean="0">
                <a:solidFill>
                  <a:schemeClr val="bg1"/>
                </a:solidFill>
              </a:rPr>
              <a:t>))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31453" y="1124888"/>
            <a:ext cx="2822766" cy="505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50" dirty="0">
                <a:solidFill>
                  <a:schemeClr val="bg1"/>
                </a:solidFill>
              </a:rPr>
              <a:t># ─── MODEL 3: Final refined - drop insignificant </a:t>
            </a:r>
            <a:r>
              <a:rPr lang="en-IN" sz="750" dirty="0" err="1">
                <a:solidFill>
                  <a:schemeClr val="bg1"/>
                </a:solidFill>
              </a:rPr>
              <a:t>vars</a:t>
            </a:r>
            <a:r>
              <a:rPr lang="en-IN" sz="750" dirty="0">
                <a:solidFill>
                  <a:schemeClr val="bg1"/>
                </a:solidFill>
              </a:rPr>
              <a:t>, fix </a:t>
            </a:r>
            <a:r>
              <a:rPr lang="en-IN" sz="750" dirty="0" err="1">
                <a:solidFill>
                  <a:schemeClr val="bg1"/>
                </a:solidFill>
              </a:rPr>
              <a:t>multicollinearity</a:t>
            </a:r>
            <a:r>
              <a:rPr lang="en-IN" sz="750" dirty="0">
                <a:solidFill>
                  <a:schemeClr val="bg1"/>
                </a:solidFill>
              </a:rPr>
              <a:t> ──</a:t>
            </a:r>
          </a:p>
          <a:p>
            <a:r>
              <a:rPr lang="en-IN" sz="750" dirty="0">
                <a:solidFill>
                  <a:schemeClr val="bg1"/>
                </a:solidFill>
              </a:rPr>
              <a:t># Drop: </a:t>
            </a:r>
            <a:r>
              <a:rPr lang="en-IN" sz="750" dirty="0" err="1">
                <a:solidFill>
                  <a:schemeClr val="bg1"/>
                </a:solidFill>
              </a:rPr>
              <a:t>trade_adstock</a:t>
            </a:r>
            <a:r>
              <a:rPr lang="en-IN" sz="750" dirty="0">
                <a:solidFill>
                  <a:schemeClr val="bg1"/>
                </a:solidFill>
              </a:rPr>
              <a:t> (p=0.42), </a:t>
            </a:r>
            <a:r>
              <a:rPr lang="en-IN" sz="750" dirty="0" err="1">
                <a:solidFill>
                  <a:schemeClr val="bg1"/>
                </a:solidFill>
              </a:rPr>
              <a:t>consumer_promo</a:t>
            </a:r>
            <a:r>
              <a:rPr lang="en-IN" sz="750" dirty="0">
                <a:solidFill>
                  <a:schemeClr val="bg1"/>
                </a:solidFill>
              </a:rPr>
              <a:t> (p=0.76) — weak variables</a:t>
            </a:r>
          </a:p>
          <a:p>
            <a:r>
              <a:rPr lang="en-IN" sz="750" dirty="0">
                <a:solidFill>
                  <a:schemeClr val="bg1"/>
                </a:solidFill>
              </a:rPr>
              <a:t># Keep lag for autocorrelation control; VIFs under 5 except </a:t>
            </a:r>
            <a:r>
              <a:rPr lang="en-IN" sz="750" dirty="0" err="1">
                <a:solidFill>
                  <a:schemeClr val="bg1"/>
                </a:solidFill>
              </a:rPr>
              <a:t>dist+lag</a:t>
            </a:r>
            <a:r>
              <a:rPr lang="en-IN" sz="750" dirty="0">
                <a:solidFill>
                  <a:schemeClr val="bg1"/>
                </a:solidFill>
              </a:rPr>
              <a:t> (borderline)</a:t>
            </a:r>
          </a:p>
          <a:p>
            <a:r>
              <a:rPr lang="en-IN" sz="750" dirty="0">
                <a:solidFill>
                  <a:schemeClr val="bg1"/>
                </a:solidFill>
              </a:rPr>
              <a:t># Use </a:t>
            </a:r>
            <a:r>
              <a:rPr lang="en-IN" sz="750" dirty="0" err="1">
                <a:solidFill>
                  <a:schemeClr val="bg1"/>
                </a:solidFill>
              </a:rPr>
              <a:t>num_dist_max</a:t>
            </a:r>
            <a:r>
              <a:rPr lang="en-IN" sz="750" dirty="0">
                <a:solidFill>
                  <a:schemeClr val="bg1"/>
                </a:solidFill>
              </a:rPr>
              <a:t> instead of </a:t>
            </a:r>
            <a:r>
              <a:rPr lang="en-IN" sz="750" dirty="0" err="1">
                <a:solidFill>
                  <a:schemeClr val="bg1"/>
                </a:solidFill>
              </a:rPr>
              <a:t>wtd_dist_max</a:t>
            </a:r>
            <a:r>
              <a:rPr lang="en-IN" sz="750" dirty="0">
                <a:solidFill>
                  <a:schemeClr val="bg1"/>
                </a:solidFill>
              </a:rPr>
              <a:t> to reduce </a:t>
            </a:r>
            <a:r>
              <a:rPr lang="en-IN" sz="750" dirty="0" err="1">
                <a:solidFill>
                  <a:schemeClr val="bg1"/>
                </a:solidFill>
              </a:rPr>
              <a:t>dist</a:t>
            </a:r>
            <a:r>
              <a:rPr lang="en-IN" sz="750" dirty="0">
                <a:solidFill>
                  <a:schemeClr val="bg1"/>
                </a:solidFill>
              </a:rPr>
              <a:t> </a:t>
            </a:r>
            <a:r>
              <a:rPr lang="en-IN" sz="750" dirty="0" err="1">
                <a:solidFill>
                  <a:schemeClr val="bg1"/>
                </a:solidFill>
              </a:rPr>
              <a:t>collinearity</a:t>
            </a:r>
            <a:endParaRPr lang="en-IN" sz="750" dirty="0">
              <a:solidFill>
                <a:schemeClr val="bg1"/>
              </a:solidFill>
            </a:endParaRPr>
          </a:p>
          <a:p>
            <a:r>
              <a:rPr lang="en-IN" sz="750" dirty="0">
                <a:solidFill>
                  <a:schemeClr val="bg1"/>
                </a:solidFill>
              </a:rPr>
              <a:t/>
            </a:r>
            <a:br>
              <a:rPr lang="en-IN" sz="750" dirty="0">
                <a:solidFill>
                  <a:schemeClr val="bg1"/>
                </a:solidFill>
              </a:rPr>
            </a:br>
            <a:r>
              <a:rPr lang="en-IN" sz="750" dirty="0">
                <a:solidFill>
                  <a:schemeClr val="bg1"/>
                </a:solidFill>
              </a:rPr>
              <a:t>df['</a:t>
            </a:r>
            <a:r>
              <a:rPr lang="en-IN" sz="750" dirty="0" err="1">
                <a:solidFill>
                  <a:schemeClr val="bg1"/>
                </a:solidFill>
              </a:rPr>
              <a:t>log_num_dist</a:t>
            </a:r>
            <a:r>
              <a:rPr lang="en-IN" sz="750" dirty="0">
                <a:solidFill>
                  <a:schemeClr val="bg1"/>
                </a:solidFill>
              </a:rPr>
              <a:t>'] = np.log1p(df['</a:t>
            </a:r>
            <a:r>
              <a:rPr lang="en-IN" sz="750" dirty="0" err="1">
                <a:solidFill>
                  <a:schemeClr val="bg1"/>
                </a:solidFill>
              </a:rPr>
              <a:t>num_dist_max</a:t>
            </a:r>
            <a:r>
              <a:rPr lang="en-IN" sz="750" dirty="0">
                <a:solidFill>
                  <a:schemeClr val="bg1"/>
                </a:solidFill>
              </a:rPr>
              <a:t>'])</a:t>
            </a:r>
          </a:p>
          <a:p>
            <a:r>
              <a:rPr lang="en-IN" sz="750" dirty="0">
                <a:solidFill>
                  <a:schemeClr val="bg1"/>
                </a:solidFill>
              </a:rPr>
              <a:t>df3 = </a:t>
            </a:r>
            <a:r>
              <a:rPr lang="en-IN" sz="750" dirty="0" err="1">
                <a:solidFill>
                  <a:schemeClr val="bg1"/>
                </a:solidFill>
              </a:rPr>
              <a:t>df.copy</a:t>
            </a:r>
            <a:r>
              <a:rPr lang="en-IN" sz="750" dirty="0">
                <a:solidFill>
                  <a:schemeClr val="bg1"/>
                </a:solidFill>
              </a:rPr>
              <a:t>()</a:t>
            </a:r>
          </a:p>
          <a:p>
            <a:r>
              <a:rPr lang="en-IN" sz="750" dirty="0">
                <a:solidFill>
                  <a:schemeClr val="bg1"/>
                </a:solidFill>
              </a:rPr>
              <a:t>df3['sales_lag1'] = </a:t>
            </a:r>
            <a:r>
              <a:rPr lang="en-IN" sz="750" dirty="0" err="1">
                <a:solidFill>
                  <a:schemeClr val="bg1"/>
                </a:solidFill>
              </a:rPr>
              <a:t>Y.shift</a:t>
            </a:r>
            <a:r>
              <a:rPr lang="en-IN" sz="750" dirty="0">
                <a:solidFill>
                  <a:schemeClr val="bg1"/>
                </a:solidFill>
              </a:rPr>
              <a:t>(1)</a:t>
            </a:r>
          </a:p>
          <a:p>
            <a:r>
              <a:rPr lang="en-IN" sz="750" dirty="0">
                <a:solidFill>
                  <a:schemeClr val="bg1"/>
                </a:solidFill>
              </a:rPr>
              <a:t>df3 = df3.dropna(subset=['sales_lag1']).copy()</a:t>
            </a:r>
          </a:p>
          <a:p>
            <a:r>
              <a:rPr lang="en-IN" sz="750" dirty="0">
                <a:solidFill>
                  <a:schemeClr val="bg1"/>
                </a:solidFill>
              </a:rPr>
              <a:t>Y3 = df3['</a:t>
            </a:r>
            <a:r>
              <a:rPr lang="en-IN" sz="750" dirty="0" err="1">
                <a:solidFill>
                  <a:schemeClr val="bg1"/>
                </a:solidFill>
              </a:rPr>
              <a:t>kpi_val_sales_mn</a:t>
            </a:r>
            <a:r>
              <a:rPr lang="en-IN" sz="750" dirty="0">
                <a:solidFill>
                  <a:schemeClr val="bg1"/>
                </a:solidFill>
              </a:rPr>
              <a:t>']</a:t>
            </a:r>
          </a:p>
          <a:p>
            <a:r>
              <a:rPr lang="en-IN" sz="750" dirty="0">
                <a:solidFill>
                  <a:schemeClr val="bg1"/>
                </a:solidFill>
              </a:rPr>
              <a:t>X3_cols = ['log_tv_</a:t>
            </a:r>
            <a:r>
              <a:rPr lang="en-IN" sz="750" dirty="0" err="1">
                <a:solidFill>
                  <a:schemeClr val="bg1"/>
                </a:solidFill>
              </a:rPr>
              <a:t>adstock</a:t>
            </a:r>
            <a:r>
              <a:rPr lang="en-IN" sz="750" dirty="0">
                <a:solidFill>
                  <a:schemeClr val="bg1"/>
                </a:solidFill>
              </a:rPr>
              <a:t>','log_newspaper_</a:t>
            </a:r>
            <a:r>
              <a:rPr lang="en-IN" sz="750" dirty="0" err="1">
                <a:solidFill>
                  <a:schemeClr val="bg1"/>
                </a:solidFill>
              </a:rPr>
              <a:t>adstock</a:t>
            </a:r>
            <a:r>
              <a:rPr lang="en-IN" sz="750" dirty="0">
                <a:solidFill>
                  <a:schemeClr val="bg1"/>
                </a:solidFill>
              </a:rPr>
              <a:t>','</a:t>
            </a:r>
            <a:r>
              <a:rPr lang="en-IN" sz="750" dirty="0" err="1">
                <a:solidFill>
                  <a:schemeClr val="bg1"/>
                </a:solidFill>
              </a:rPr>
              <a:t>log_digital_adstock</a:t>
            </a:r>
            <a:r>
              <a:rPr lang="en-IN" sz="750" dirty="0">
                <a:solidFill>
                  <a:schemeClr val="bg1"/>
                </a:solidFill>
              </a:rPr>
              <a:t>',</a:t>
            </a:r>
          </a:p>
          <a:p>
            <a:r>
              <a:rPr lang="en-IN" sz="750" dirty="0">
                <a:solidFill>
                  <a:schemeClr val="bg1"/>
                </a:solidFill>
              </a:rPr>
              <a:t>           'log_trade_promo_adstock','log_num_dist','covid_dummy','sales_lag1']</a:t>
            </a:r>
          </a:p>
          <a:p>
            <a:r>
              <a:rPr lang="en-IN" sz="750" dirty="0">
                <a:solidFill>
                  <a:schemeClr val="bg1"/>
                </a:solidFill>
              </a:rPr>
              <a:t>X3 = </a:t>
            </a:r>
            <a:r>
              <a:rPr lang="en-IN" sz="750" dirty="0" err="1">
                <a:solidFill>
                  <a:schemeClr val="bg1"/>
                </a:solidFill>
              </a:rPr>
              <a:t>add_constant</a:t>
            </a:r>
            <a:r>
              <a:rPr lang="en-IN" sz="750" dirty="0">
                <a:solidFill>
                  <a:schemeClr val="bg1"/>
                </a:solidFill>
              </a:rPr>
              <a:t>(df3[X3_cols])</a:t>
            </a:r>
          </a:p>
          <a:p>
            <a:r>
              <a:rPr lang="en-IN" sz="750" dirty="0">
                <a:solidFill>
                  <a:schemeClr val="bg1"/>
                </a:solidFill>
              </a:rPr>
              <a:t>model3 = OLS(Y3, X3).fit()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print("\n=== MODEL 3: Final Refined ===")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print(model3.summary())</a:t>
            </a:r>
          </a:p>
          <a:p>
            <a:r>
              <a:rPr lang="en-IN" sz="750" dirty="0">
                <a:solidFill>
                  <a:schemeClr val="bg1"/>
                </a:solidFill>
              </a:rPr>
              <a:t>dw3 = </a:t>
            </a:r>
            <a:r>
              <a:rPr lang="en-IN" sz="750" dirty="0" err="1">
                <a:solidFill>
                  <a:schemeClr val="bg1"/>
                </a:solidFill>
              </a:rPr>
              <a:t>durbin_watson</a:t>
            </a:r>
            <a:r>
              <a:rPr lang="en-IN" sz="750" dirty="0">
                <a:solidFill>
                  <a:schemeClr val="bg1"/>
                </a:solidFill>
              </a:rPr>
              <a:t>(model3.resid)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print(f"\</a:t>
            </a:r>
            <a:r>
              <a:rPr lang="en-IN" sz="750" dirty="0" err="1">
                <a:solidFill>
                  <a:schemeClr val="bg1"/>
                </a:solidFill>
              </a:rPr>
              <a:t>nDurbin</a:t>
            </a:r>
            <a:r>
              <a:rPr lang="en-IN" sz="750" dirty="0">
                <a:solidFill>
                  <a:schemeClr val="bg1"/>
                </a:solidFill>
              </a:rPr>
              <a:t>-Watson: {dw3:.4f}")</a:t>
            </a:r>
          </a:p>
          <a:p>
            <a:r>
              <a:rPr lang="en-IN" sz="750" dirty="0">
                <a:solidFill>
                  <a:schemeClr val="bg1"/>
                </a:solidFill>
              </a:rPr>
              <a:t>vif3 = </a:t>
            </a:r>
            <a:r>
              <a:rPr lang="en-IN" sz="750" dirty="0" err="1">
                <a:solidFill>
                  <a:schemeClr val="bg1"/>
                </a:solidFill>
              </a:rPr>
              <a:t>pd.DataFrame</a:t>
            </a:r>
            <a:r>
              <a:rPr lang="en-IN" sz="750" dirty="0">
                <a:solidFill>
                  <a:schemeClr val="bg1"/>
                </a:solidFill>
              </a:rPr>
              <a:t>()</a:t>
            </a:r>
          </a:p>
          <a:p>
            <a:r>
              <a:rPr lang="en-IN" sz="750" dirty="0">
                <a:solidFill>
                  <a:schemeClr val="bg1"/>
                </a:solidFill>
              </a:rPr>
              <a:t>vif3['Variable'] = X3_cols</a:t>
            </a:r>
          </a:p>
          <a:p>
            <a:r>
              <a:rPr lang="en-IN" sz="750" dirty="0">
                <a:solidFill>
                  <a:schemeClr val="bg1"/>
                </a:solidFill>
              </a:rPr>
              <a:t>vif3['VIF'] = [</a:t>
            </a:r>
            <a:r>
              <a:rPr lang="en-IN" sz="750" dirty="0" err="1">
                <a:solidFill>
                  <a:schemeClr val="bg1"/>
                </a:solidFill>
              </a:rPr>
              <a:t>variance_inflation_factor</a:t>
            </a:r>
            <a:r>
              <a:rPr lang="en-IN" sz="750" dirty="0">
                <a:solidFill>
                  <a:schemeClr val="bg1"/>
                </a:solidFill>
              </a:rPr>
              <a:t>(X3.values, i+1) for i in range(</a:t>
            </a:r>
            <a:r>
              <a:rPr lang="en-IN" sz="750" dirty="0" err="1">
                <a:solidFill>
                  <a:schemeClr val="bg1"/>
                </a:solidFill>
              </a:rPr>
              <a:t>len</a:t>
            </a:r>
            <a:r>
              <a:rPr lang="en-IN" sz="750" dirty="0">
                <a:solidFill>
                  <a:schemeClr val="bg1"/>
                </a:solidFill>
              </a:rPr>
              <a:t>(X3_cols))]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print("\n=== VIF (Model 3) ===")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print(vif3.sort_values('VIF', ascending=False).</a:t>
            </a:r>
            <a:r>
              <a:rPr lang="en-IN" sz="750" dirty="0" err="1">
                <a:solidFill>
                  <a:schemeClr val="bg1"/>
                </a:solidFill>
              </a:rPr>
              <a:t>to_string</a:t>
            </a:r>
            <a:r>
              <a:rPr lang="en-IN" sz="750" dirty="0">
                <a:solidFill>
                  <a:schemeClr val="bg1"/>
                </a:solidFill>
              </a:rPr>
              <a:t>(index=False))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print("\n\n============================================================")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print("FINAL MODEL SUMMARY")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print("============================================================")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print(f"R²           : {model3.rsquared:.4f}")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</a:t>
            </a:r>
            <a:r>
              <a:rPr lang="en-IN" sz="750" dirty="0" err="1">
                <a:solidFill>
                  <a:schemeClr val="bg1"/>
                </a:solidFill>
              </a:rPr>
              <a:t>f"Adj</a:t>
            </a:r>
            <a:r>
              <a:rPr lang="en-IN" sz="750" dirty="0">
                <a:solidFill>
                  <a:schemeClr val="bg1"/>
                </a:solidFill>
              </a:rPr>
              <a:t> R²       : {model3.rsquared_adj:.4f}")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</a:t>
            </a:r>
            <a:r>
              <a:rPr lang="en-IN" sz="750" dirty="0" err="1">
                <a:solidFill>
                  <a:schemeClr val="bg1"/>
                </a:solidFill>
              </a:rPr>
              <a:t>f"F</a:t>
            </a:r>
            <a:r>
              <a:rPr lang="en-IN" sz="750" dirty="0">
                <a:solidFill>
                  <a:schemeClr val="bg1"/>
                </a:solidFill>
              </a:rPr>
              <a:t>-statistic  : {model3.fvalue:.2f}  (p={model3.f_pvalue:.2e})")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</a:t>
            </a:r>
            <a:r>
              <a:rPr lang="en-IN" sz="750" dirty="0" err="1">
                <a:solidFill>
                  <a:schemeClr val="bg1"/>
                </a:solidFill>
              </a:rPr>
              <a:t>f"Durbin</a:t>
            </a:r>
            <a:r>
              <a:rPr lang="en-IN" sz="750" dirty="0">
                <a:solidFill>
                  <a:schemeClr val="bg1"/>
                </a:solidFill>
              </a:rPr>
              <a:t>-Watson: {dw3:.4f}  (target: 1.5–2.5 = no autocorrelation)")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</a:t>
            </a:r>
            <a:r>
              <a:rPr lang="en-IN" sz="750" dirty="0" err="1">
                <a:solidFill>
                  <a:schemeClr val="bg1"/>
                </a:solidFill>
              </a:rPr>
              <a:t>f"AIC</a:t>
            </a:r>
            <a:r>
              <a:rPr lang="en-IN" sz="750" dirty="0">
                <a:solidFill>
                  <a:schemeClr val="bg1"/>
                </a:solidFill>
              </a:rPr>
              <a:t>          : {model3.aic:.2f}")</a:t>
            </a:r>
          </a:p>
          <a:p>
            <a:r>
              <a:rPr lang="en-IN" sz="750" dirty="0">
                <a:solidFill>
                  <a:schemeClr val="bg1"/>
                </a:solidFill>
              </a:rPr>
              <a:t>print(</a:t>
            </a:r>
            <a:r>
              <a:rPr lang="en-IN" sz="750" dirty="0" err="1">
                <a:solidFill>
                  <a:schemeClr val="bg1"/>
                </a:solidFill>
              </a:rPr>
              <a:t>f"Observations</a:t>
            </a:r>
            <a:r>
              <a:rPr lang="en-IN" sz="750" dirty="0">
                <a:solidFill>
                  <a:schemeClr val="bg1"/>
                </a:solidFill>
              </a:rPr>
              <a:t> : {model3.nobs:.0f</a:t>
            </a:r>
            <a:r>
              <a:rPr lang="en-IN" sz="750" dirty="0" smtClean="0">
                <a:solidFill>
                  <a:schemeClr val="bg1"/>
                </a:solidFill>
              </a:rPr>
              <a:t>}")</a:t>
            </a:r>
            <a:endParaRPr lang="en-IN" sz="750" dirty="0">
              <a:solidFill>
                <a:schemeClr val="bg1"/>
              </a:solidFill>
            </a:endParaRPr>
          </a:p>
        </p:txBody>
      </p:sp>
      <p:sp>
        <p:nvSpPr>
          <p:cNvPr id="10" name="Shape 3"/>
          <p:cNvSpPr/>
          <p:nvPr/>
        </p:nvSpPr>
        <p:spPr>
          <a:xfrm>
            <a:off x="9222584" y="1028394"/>
            <a:ext cx="2863024" cy="56235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Box 10"/>
          <p:cNvSpPr txBox="1"/>
          <p:nvPr/>
        </p:nvSpPr>
        <p:spPr>
          <a:xfrm>
            <a:off x="9308848" y="1138650"/>
            <a:ext cx="25352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# ─── MODEL 4: Best final model - remove high VIF lag, rely on trend/</a:t>
            </a:r>
            <a:r>
              <a:rPr lang="en-IN" sz="1000" dirty="0" err="1">
                <a:solidFill>
                  <a:schemeClr val="bg1"/>
                </a:solidFill>
              </a:rPr>
              <a:t>dist</a:t>
            </a:r>
            <a:r>
              <a:rPr lang="en-IN" sz="1000" dirty="0">
                <a:solidFill>
                  <a:schemeClr val="bg1"/>
                </a:solidFill>
              </a:rPr>
              <a:t> only ──</a:t>
            </a:r>
          </a:p>
          <a:p>
            <a:r>
              <a:rPr lang="en-IN" sz="1000" dirty="0">
                <a:solidFill>
                  <a:schemeClr val="bg1"/>
                </a:solidFill>
              </a:rPr>
              <a:t># lag1 has VIF ~10, and </a:t>
            </a:r>
            <a:r>
              <a:rPr lang="en-IN" sz="1000" dirty="0" err="1">
                <a:solidFill>
                  <a:schemeClr val="bg1"/>
                </a:solidFill>
              </a:rPr>
              <a:t>num_dist</a:t>
            </a:r>
            <a:r>
              <a:rPr lang="en-IN" sz="1000" dirty="0">
                <a:solidFill>
                  <a:schemeClr val="bg1"/>
                </a:solidFill>
              </a:rPr>
              <a:t> correlated too. Use </a:t>
            </a:r>
            <a:r>
              <a:rPr lang="en-IN" sz="1000" dirty="0" err="1">
                <a:solidFill>
                  <a:schemeClr val="bg1"/>
                </a:solidFill>
              </a:rPr>
              <a:t>wtd_dist</a:t>
            </a:r>
            <a:r>
              <a:rPr lang="en-IN" sz="1000" dirty="0">
                <a:solidFill>
                  <a:schemeClr val="bg1"/>
                </a:solidFill>
              </a:rPr>
              <a:t> (better metric)</a:t>
            </a:r>
          </a:p>
          <a:p>
            <a:r>
              <a:rPr lang="en-IN" sz="1000" dirty="0">
                <a:solidFill>
                  <a:schemeClr val="bg1"/>
                </a:solidFill>
              </a:rPr>
              <a:t># + COVID dummy + trend (captures growth) without lag</a:t>
            </a:r>
          </a:p>
          <a:p>
            <a:r>
              <a:rPr lang="en-IN" sz="1000" dirty="0">
                <a:solidFill>
                  <a:schemeClr val="bg1"/>
                </a:solidFill>
              </a:rPr>
              <a:t># This gives cleanest interpretation</a:t>
            </a:r>
          </a:p>
          <a:p>
            <a:r>
              <a:rPr lang="en-IN" sz="1000" dirty="0">
                <a:solidFill>
                  <a:schemeClr val="bg1"/>
                </a:solidFill>
              </a:rPr>
              <a:t/>
            </a:r>
            <a:br>
              <a:rPr lang="en-IN" sz="1000" dirty="0">
                <a:solidFill>
                  <a:schemeClr val="bg1"/>
                </a:solidFill>
              </a:rPr>
            </a:br>
            <a:r>
              <a:rPr lang="en-IN" sz="1000" dirty="0">
                <a:solidFill>
                  <a:schemeClr val="bg1"/>
                </a:solidFill>
              </a:rPr>
              <a:t>df4 = </a:t>
            </a:r>
            <a:r>
              <a:rPr lang="en-IN" sz="1000" dirty="0" err="1">
                <a:solidFill>
                  <a:schemeClr val="bg1"/>
                </a:solidFill>
              </a:rPr>
              <a:t>df.copy</a:t>
            </a:r>
            <a:r>
              <a:rPr lang="en-IN" sz="1000" dirty="0">
                <a:solidFill>
                  <a:schemeClr val="bg1"/>
                </a:solidFill>
              </a:rPr>
              <a:t>()</a:t>
            </a:r>
          </a:p>
          <a:p>
            <a:r>
              <a:rPr lang="en-IN" sz="1000" dirty="0">
                <a:solidFill>
                  <a:schemeClr val="bg1"/>
                </a:solidFill>
              </a:rPr>
              <a:t>Y4 = df4['</a:t>
            </a:r>
            <a:r>
              <a:rPr lang="en-IN" sz="1000" dirty="0" err="1">
                <a:solidFill>
                  <a:schemeClr val="bg1"/>
                </a:solidFill>
              </a:rPr>
              <a:t>kpi_val_sales_mn</a:t>
            </a:r>
            <a:r>
              <a:rPr lang="en-IN" sz="1000" dirty="0">
                <a:solidFill>
                  <a:schemeClr val="bg1"/>
                </a:solidFill>
              </a:rPr>
              <a:t>']</a:t>
            </a:r>
          </a:p>
          <a:p>
            <a:r>
              <a:rPr lang="en-IN" sz="1000" dirty="0">
                <a:solidFill>
                  <a:schemeClr val="bg1"/>
                </a:solidFill>
              </a:rPr>
              <a:t>X4_cols = ['log_tv_</a:t>
            </a:r>
            <a:r>
              <a:rPr lang="en-IN" sz="1000" dirty="0" err="1">
                <a:solidFill>
                  <a:schemeClr val="bg1"/>
                </a:solidFill>
              </a:rPr>
              <a:t>adstock</a:t>
            </a:r>
            <a:r>
              <a:rPr lang="en-IN" sz="1000" dirty="0">
                <a:solidFill>
                  <a:schemeClr val="bg1"/>
                </a:solidFill>
              </a:rPr>
              <a:t>','log_newspaper_</a:t>
            </a:r>
            <a:r>
              <a:rPr lang="en-IN" sz="1000" dirty="0" err="1">
                <a:solidFill>
                  <a:schemeClr val="bg1"/>
                </a:solidFill>
              </a:rPr>
              <a:t>adstock</a:t>
            </a:r>
            <a:r>
              <a:rPr lang="en-IN" sz="1000" dirty="0">
                <a:solidFill>
                  <a:schemeClr val="bg1"/>
                </a:solidFill>
              </a:rPr>
              <a:t>','log_digital_adstock',</a:t>
            </a:r>
          </a:p>
          <a:p>
            <a:r>
              <a:rPr lang="en-IN" sz="1000" dirty="0">
                <a:solidFill>
                  <a:schemeClr val="bg1"/>
                </a:solidFill>
              </a:rPr>
              <a:t>           'log_trade_promo_adstock','log_wtd_dist_max','covid_dummy','trend']</a:t>
            </a:r>
          </a:p>
          <a:p>
            <a:r>
              <a:rPr lang="en-IN" sz="1000" dirty="0">
                <a:solidFill>
                  <a:schemeClr val="bg1"/>
                </a:solidFill>
              </a:rPr>
              <a:t>X4 = </a:t>
            </a:r>
            <a:r>
              <a:rPr lang="en-IN" sz="1000" dirty="0" err="1">
                <a:solidFill>
                  <a:schemeClr val="bg1"/>
                </a:solidFill>
              </a:rPr>
              <a:t>add_constant</a:t>
            </a:r>
            <a:r>
              <a:rPr lang="en-IN" sz="1000" dirty="0">
                <a:solidFill>
                  <a:schemeClr val="bg1"/>
                </a:solidFill>
              </a:rPr>
              <a:t>(df4[X4_cols])</a:t>
            </a:r>
          </a:p>
          <a:p>
            <a:r>
              <a:rPr lang="en-IN" sz="1000" dirty="0">
                <a:solidFill>
                  <a:schemeClr val="bg1"/>
                </a:solidFill>
              </a:rPr>
              <a:t>model4 = OLS(Y4, X4).fit()</a:t>
            </a:r>
          </a:p>
          <a:p>
            <a:r>
              <a:rPr lang="en-IN" sz="1000" dirty="0">
                <a:solidFill>
                  <a:schemeClr val="bg1"/>
                </a:solidFill>
              </a:rPr>
              <a:t>print("\n=== MODEL 4: Clean Final (No Lag) ===")</a:t>
            </a:r>
          </a:p>
          <a:p>
            <a:r>
              <a:rPr lang="en-IN" sz="1000" dirty="0">
                <a:solidFill>
                  <a:schemeClr val="bg1"/>
                </a:solidFill>
              </a:rPr>
              <a:t>print(model4.summary())</a:t>
            </a:r>
          </a:p>
          <a:p>
            <a:r>
              <a:rPr lang="en-IN" sz="1000" dirty="0">
                <a:solidFill>
                  <a:schemeClr val="bg1"/>
                </a:solidFill>
              </a:rPr>
              <a:t>dw4 = </a:t>
            </a:r>
            <a:r>
              <a:rPr lang="en-IN" sz="1000" dirty="0" err="1">
                <a:solidFill>
                  <a:schemeClr val="bg1"/>
                </a:solidFill>
              </a:rPr>
              <a:t>durbin_watson</a:t>
            </a:r>
            <a:r>
              <a:rPr lang="en-IN" sz="1000" dirty="0">
                <a:solidFill>
                  <a:schemeClr val="bg1"/>
                </a:solidFill>
              </a:rPr>
              <a:t>(model4.resid)</a:t>
            </a:r>
          </a:p>
          <a:p>
            <a:r>
              <a:rPr lang="en-IN" sz="1000" dirty="0">
                <a:solidFill>
                  <a:schemeClr val="bg1"/>
                </a:solidFill>
              </a:rPr>
              <a:t>print(f"\</a:t>
            </a:r>
            <a:r>
              <a:rPr lang="en-IN" sz="1000" dirty="0" err="1">
                <a:solidFill>
                  <a:schemeClr val="bg1"/>
                </a:solidFill>
              </a:rPr>
              <a:t>nDurbin</a:t>
            </a:r>
            <a:r>
              <a:rPr lang="en-IN" sz="1000" dirty="0">
                <a:solidFill>
                  <a:schemeClr val="bg1"/>
                </a:solidFill>
              </a:rPr>
              <a:t>-Watson: {dw4:.4f}")</a:t>
            </a:r>
          </a:p>
          <a:p>
            <a:r>
              <a:rPr lang="en-IN" sz="1000" dirty="0">
                <a:solidFill>
                  <a:schemeClr val="bg1"/>
                </a:solidFill>
              </a:rPr>
              <a:t>vif4 = </a:t>
            </a:r>
            <a:r>
              <a:rPr lang="en-IN" sz="1000" dirty="0" err="1">
                <a:solidFill>
                  <a:schemeClr val="bg1"/>
                </a:solidFill>
              </a:rPr>
              <a:t>pd.DataFrame</a:t>
            </a:r>
            <a:r>
              <a:rPr lang="en-IN" sz="1000" dirty="0">
                <a:solidFill>
                  <a:schemeClr val="bg1"/>
                </a:solidFill>
              </a:rPr>
              <a:t>()</a:t>
            </a:r>
          </a:p>
          <a:p>
            <a:r>
              <a:rPr lang="en-IN" sz="1000" dirty="0">
                <a:solidFill>
                  <a:schemeClr val="bg1"/>
                </a:solidFill>
              </a:rPr>
              <a:t>vif4['Variable'] = X4_cols</a:t>
            </a:r>
          </a:p>
          <a:p>
            <a:r>
              <a:rPr lang="en-IN" sz="1000" dirty="0">
                <a:solidFill>
                  <a:schemeClr val="bg1"/>
                </a:solidFill>
              </a:rPr>
              <a:t>vif4['VIF'] = [</a:t>
            </a:r>
            <a:r>
              <a:rPr lang="en-IN" sz="1000" dirty="0" err="1">
                <a:solidFill>
                  <a:schemeClr val="bg1"/>
                </a:solidFill>
              </a:rPr>
              <a:t>variance_inflation_factor</a:t>
            </a:r>
            <a:r>
              <a:rPr lang="en-IN" sz="1000" dirty="0">
                <a:solidFill>
                  <a:schemeClr val="bg1"/>
                </a:solidFill>
              </a:rPr>
              <a:t>(X4.values, i+1) for i in range(</a:t>
            </a:r>
            <a:r>
              <a:rPr lang="en-IN" sz="1000" dirty="0" err="1">
                <a:solidFill>
                  <a:schemeClr val="bg1"/>
                </a:solidFill>
              </a:rPr>
              <a:t>len</a:t>
            </a:r>
            <a:r>
              <a:rPr lang="en-IN" sz="1000" dirty="0">
                <a:solidFill>
                  <a:schemeClr val="bg1"/>
                </a:solidFill>
              </a:rPr>
              <a:t>(X4_cols))]</a:t>
            </a:r>
          </a:p>
          <a:p>
            <a:r>
              <a:rPr lang="en-IN" sz="1000" dirty="0">
                <a:solidFill>
                  <a:schemeClr val="bg1"/>
                </a:solidFill>
              </a:rPr>
              <a:t>print("\n=== VIF (Model 4) ===")</a:t>
            </a:r>
          </a:p>
          <a:p>
            <a:r>
              <a:rPr lang="en-IN" sz="1000" dirty="0">
                <a:solidFill>
                  <a:schemeClr val="bg1"/>
                </a:solidFill>
              </a:rPr>
              <a:t>print(vif4.sort_values('VIF', ascending=False).</a:t>
            </a:r>
            <a:r>
              <a:rPr lang="en-IN" sz="1000" dirty="0" err="1">
                <a:solidFill>
                  <a:schemeClr val="bg1"/>
                </a:solidFill>
              </a:rPr>
              <a:t>to_string</a:t>
            </a:r>
            <a:r>
              <a:rPr lang="en-IN" sz="1000" dirty="0">
                <a:solidFill>
                  <a:schemeClr val="bg1"/>
                </a:solidFill>
              </a:rPr>
              <a:t>(index=False))</a:t>
            </a:r>
          </a:p>
          <a:p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67291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OLS Model — Code &amp; Regression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GRP-based TV + Festive dummy specification </a:t>
            </a:r>
            <a:r>
              <a:rPr lang="en-US" sz="1200" dirty="0" smtClean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along with </a:t>
            </a:r>
            <a:r>
              <a:rPr lang="en-US" sz="1200" dirty="0" err="1" smtClean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Counterfractual</a:t>
            </a:r>
            <a:r>
              <a:rPr lang="en-US" sz="1200" dirty="0" smtClean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Contribution</a:t>
            </a:r>
            <a:r>
              <a:rPr lang="en-US" sz="1200" dirty="0" smtClean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</a:t>
            </a:r>
            <a:r>
              <a:rPr lang="en-US" sz="1200" dirty="0" err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statsmodels</a:t>
            </a: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200" dirty="0" smtClean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OLS 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1115568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638" y="801220"/>
            <a:ext cx="6963242" cy="5970515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08176"/>
            <a:ext cx="6355080" cy="5120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78040" y="1024128"/>
            <a:ext cx="4754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0" y="109728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Model Performance Metrics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7223760" y="1417320"/>
          <a:ext cx="4572000" cy="2304288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2103120"/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R²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0.935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93.5% variance explained 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Adj R²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0.919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Robust after penalty 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F-stat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57.4 (p&lt;0.001)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Model highly significant 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Durbin-Watson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1.81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 autocorrelation (1.5–2.5) 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MAPE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5.9%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&lt; 10% = good forecast accuracy 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Obs.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Full 4-year monthly dataset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178040" y="4251960"/>
            <a:ext cx="47548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0" y="431596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VIF — Multicollinearity Check (All &lt; 5 = OK)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829091"/>
              </p:ext>
            </p:extLst>
          </p:nvPr>
        </p:nvGraphicFramePr>
        <p:xfrm>
          <a:off x="7223760" y="4531027"/>
          <a:ext cx="4572000" cy="22860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1463040"/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TV (GRP Adstock)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2.1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803D"/>
                          </a:solidFill>
                        </a:rPr>
                        <a:t>✅ &lt;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Digital (Adstock)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2.8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803D"/>
                          </a:solidFill>
                        </a:rPr>
                        <a:t>✅ &lt;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Trade Promo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1.9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803D"/>
                          </a:solidFill>
                        </a:rPr>
                        <a:t>✅ &lt;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Consumer Promo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1.7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803D"/>
                          </a:solidFill>
                        </a:rPr>
                        <a:t>✅ &lt;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Distribution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3.2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803D"/>
                          </a:solidFill>
                        </a:rPr>
                        <a:t>✅ &lt;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COVID Dummy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1.4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803D"/>
                          </a:solidFill>
                        </a:rPr>
                        <a:t>✅ &lt;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Festive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1.3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803D"/>
                          </a:solidFill>
                        </a:rPr>
                        <a:t>✅ &lt;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Trend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3.8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803D"/>
                          </a:solidFill>
                        </a:rPr>
                        <a:t>✅ &lt;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Newspaper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2.2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803D"/>
                          </a:solidFill>
                        </a:rPr>
                        <a:t>✅ &lt;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8725" y="815384"/>
            <a:ext cx="340053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smtClean="0">
                <a:solidFill>
                  <a:schemeClr val="bg1"/>
                </a:solidFill>
              </a:rPr>
              <a:t># Use GRP for TV (exposure metric, not spend) and different decays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df['</a:t>
            </a:r>
            <a:r>
              <a:rPr lang="en-IN" sz="800" dirty="0" err="1" smtClean="0">
                <a:solidFill>
                  <a:schemeClr val="bg1"/>
                </a:solidFill>
              </a:rPr>
              <a:t>tv_grp_adstock</a:t>
            </a:r>
            <a:r>
              <a:rPr lang="en-IN" sz="800" dirty="0" smtClean="0">
                <a:solidFill>
                  <a:schemeClr val="bg1"/>
                </a:solidFill>
              </a:rPr>
              <a:t>']     = </a:t>
            </a:r>
            <a:r>
              <a:rPr lang="en-IN" sz="800" dirty="0" err="1" smtClean="0">
                <a:solidFill>
                  <a:schemeClr val="bg1"/>
                </a:solidFill>
              </a:rPr>
              <a:t>adstock</a:t>
            </a:r>
            <a:r>
              <a:rPr lang="en-IN" sz="800" dirty="0" smtClean="0">
                <a:solidFill>
                  <a:schemeClr val="bg1"/>
                </a:solidFill>
              </a:rPr>
              <a:t>(df['</a:t>
            </a:r>
            <a:r>
              <a:rPr lang="en-IN" sz="800" dirty="0" err="1" smtClean="0">
                <a:solidFill>
                  <a:schemeClr val="bg1"/>
                </a:solidFill>
              </a:rPr>
              <a:t>tv_total_grp</a:t>
            </a:r>
            <a:r>
              <a:rPr lang="en-IN" sz="800" dirty="0" smtClean="0">
                <a:solidFill>
                  <a:schemeClr val="bg1"/>
                </a:solidFill>
              </a:rPr>
              <a:t>'], 0.5)       # GRP as effectiveness proxy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df['</a:t>
            </a:r>
            <a:r>
              <a:rPr lang="en-IN" sz="800" dirty="0" err="1" smtClean="0">
                <a:solidFill>
                  <a:schemeClr val="bg1"/>
                </a:solidFill>
              </a:rPr>
              <a:t>newspaper_adstock</a:t>
            </a:r>
            <a:r>
              <a:rPr lang="en-IN" sz="800" dirty="0" smtClean="0">
                <a:solidFill>
                  <a:schemeClr val="bg1"/>
                </a:solidFill>
              </a:rPr>
              <a:t>']  = </a:t>
            </a:r>
            <a:r>
              <a:rPr lang="en-IN" sz="800" dirty="0" err="1" smtClean="0">
                <a:solidFill>
                  <a:schemeClr val="bg1"/>
                </a:solidFill>
              </a:rPr>
              <a:t>adstock</a:t>
            </a:r>
            <a:r>
              <a:rPr lang="en-IN" sz="800" dirty="0" smtClean="0">
                <a:solidFill>
                  <a:schemeClr val="bg1"/>
                </a:solidFill>
              </a:rPr>
              <a:t>(df['</a:t>
            </a:r>
            <a:r>
              <a:rPr lang="en-IN" sz="800" dirty="0" err="1" smtClean="0">
                <a:solidFill>
                  <a:schemeClr val="bg1"/>
                </a:solidFill>
              </a:rPr>
              <a:t>newspaper_spends_mn</a:t>
            </a:r>
            <a:r>
              <a:rPr lang="en-IN" sz="800" dirty="0" smtClean="0">
                <a:solidFill>
                  <a:schemeClr val="bg1"/>
                </a:solidFill>
              </a:rPr>
              <a:t>'], 0.3)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df['</a:t>
            </a:r>
            <a:r>
              <a:rPr lang="en-IN" sz="800" dirty="0" err="1" smtClean="0">
                <a:solidFill>
                  <a:schemeClr val="bg1"/>
                </a:solidFill>
              </a:rPr>
              <a:t>digital_adstock</a:t>
            </a:r>
            <a:r>
              <a:rPr lang="en-IN" sz="800" dirty="0" smtClean="0">
                <a:solidFill>
                  <a:schemeClr val="bg1"/>
                </a:solidFill>
              </a:rPr>
              <a:t>']    = </a:t>
            </a:r>
            <a:r>
              <a:rPr lang="en-IN" sz="800" dirty="0" err="1" smtClean="0">
                <a:solidFill>
                  <a:schemeClr val="bg1"/>
                </a:solidFill>
              </a:rPr>
              <a:t>adstock</a:t>
            </a:r>
            <a:r>
              <a:rPr lang="en-IN" sz="800" dirty="0" smtClean="0">
                <a:solidFill>
                  <a:schemeClr val="bg1"/>
                </a:solidFill>
              </a:rPr>
              <a:t>(df['</a:t>
            </a:r>
            <a:r>
              <a:rPr lang="en-IN" sz="800" dirty="0" err="1" smtClean="0">
                <a:solidFill>
                  <a:schemeClr val="bg1"/>
                </a:solidFill>
              </a:rPr>
              <a:t>digital_spends_mn</a:t>
            </a:r>
            <a:r>
              <a:rPr lang="en-IN" sz="800" dirty="0" smtClean="0">
                <a:solidFill>
                  <a:schemeClr val="bg1"/>
                </a:solidFill>
              </a:rPr>
              <a:t>'], 0.4)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df['</a:t>
            </a:r>
            <a:r>
              <a:rPr lang="en-IN" sz="800" dirty="0" err="1" smtClean="0">
                <a:solidFill>
                  <a:schemeClr val="bg1"/>
                </a:solidFill>
              </a:rPr>
              <a:t>trade_adstock</a:t>
            </a:r>
            <a:r>
              <a:rPr lang="en-IN" sz="800" dirty="0" smtClean="0">
                <a:solidFill>
                  <a:schemeClr val="bg1"/>
                </a:solidFill>
              </a:rPr>
              <a:t>']      = </a:t>
            </a:r>
            <a:r>
              <a:rPr lang="en-IN" sz="800" dirty="0" err="1" smtClean="0">
                <a:solidFill>
                  <a:schemeClr val="bg1"/>
                </a:solidFill>
              </a:rPr>
              <a:t>adstock</a:t>
            </a:r>
            <a:r>
              <a:rPr lang="en-IN" sz="800" dirty="0" smtClean="0">
                <a:solidFill>
                  <a:schemeClr val="bg1"/>
                </a:solidFill>
              </a:rPr>
              <a:t>(df['</a:t>
            </a:r>
            <a:r>
              <a:rPr lang="en-IN" sz="800" dirty="0" err="1" smtClean="0">
                <a:solidFill>
                  <a:schemeClr val="bg1"/>
                </a:solidFill>
              </a:rPr>
              <a:t>trade_promo_spends_mn</a:t>
            </a:r>
            <a:r>
              <a:rPr lang="en-IN" sz="800" dirty="0" smtClean="0">
                <a:solidFill>
                  <a:schemeClr val="bg1"/>
                </a:solidFill>
              </a:rPr>
              <a:t>'], 0.2)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df['</a:t>
            </a:r>
            <a:r>
              <a:rPr lang="en-IN" sz="800" dirty="0" err="1" smtClean="0">
                <a:solidFill>
                  <a:schemeClr val="bg1"/>
                </a:solidFill>
              </a:rPr>
              <a:t>consumer_adstock</a:t>
            </a:r>
            <a:r>
              <a:rPr lang="en-IN" sz="800" dirty="0" smtClean="0">
                <a:solidFill>
                  <a:schemeClr val="bg1"/>
                </a:solidFill>
              </a:rPr>
              <a:t>']   = </a:t>
            </a:r>
            <a:r>
              <a:rPr lang="en-IN" sz="800" dirty="0" err="1" smtClean="0">
                <a:solidFill>
                  <a:schemeClr val="bg1"/>
                </a:solidFill>
              </a:rPr>
              <a:t>adstock</a:t>
            </a:r>
            <a:r>
              <a:rPr lang="en-IN" sz="800" dirty="0" smtClean="0">
                <a:solidFill>
                  <a:schemeClr val="bg1"/>
                </a:solidFill>
              </a:rPr>
              <a:t>(df['</a:t>
            </a:r>
            <a:r>
              <a:rPr lang="en-IN" sz="800" dirty="0" err="1" smtClean="0">
                <a:solidFill>
                  <a:schemeClr val="bg1"/>
                </a:solidFill>
              </a:rPr>
              <a:t>consumer_promo_spends_mn</a:t>
            </a:r>
            <a:r>
              <a:rPr lang="en-IN" sz="800" dirty="0" smtClean="0">
                <a:solidFill>
                  <a:schemeClr val="bg1"/>
                </a:solidFill>
              </a:rPr>
              <a:t>'], 0.2)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/>
            </a:r>
            <a:br>
              <a:rPr lang="en-IN" sz="800" dirty="0" smtClean="0">
                <a:solidFill>
                  <a:schemeClr val="bg1"/>
                </a:solidFill>
              </a:rPr>
            </a:br>
            <a:r>
              <a:rPr lang="en-IN" sz="800" dirty="0" smtClean="0">
                <a:solidFill>
                  <a:schemeClr val="bg1"/>
                </a:solidFill>
              </a:rPr>
              <a:t># Log transforms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for col in ['tv_grp_adstock','newspaper_adstock','digital_adstock','trade_adstock',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            'consumer_</a:t>
            </a:r>
            <a:r>
              <a:rPr lang="en-IN" sz="800" dirty="0" err="1" smtClean="0">
                <a:solidFill>
                  <a:schemeClr val="bg1"/>
                </a:solidFill>
              </a:rPr>
              <a:t>adstock</a:t>
            </a:r>
            <a:r>
              <a:rPr lang="en-IN" sz="800" dirty="0" smtClean="0">
                <a:solidFill>
                  <a:schemeClr val="bg1"/>
                </a:solidFill>
              </a:rPr>
              <a:t>','wtd_dist_max','</a:t>
            </a:r>
            <a:r>
              <a:rPr lang="en-IN" sz="800" dirty="0" err="1" smtClean="0">
                <a:solidFill>
                  <a:schemeClr val="bg1"/>
                </a:solidFill>
              </a:rPr>
              <a:t>num_dist_max</a:t>
            </a:r>
            <a:r>
              <a:rPr lang="en-IN" sz="800" dirty="0" smtClean="0">
                <a:solidFill>
                  <a:schemeClr val="bg1"/>
                </a:solidFill>
              </a:rPr>
              <a:t>']: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    df[</a:t>
            </a:r>
            <a:r>
              <a:rPr lang="en-IN" sz="800" dirty="0" err="1" smtClean="0">
                <a:solidFill>
                  <a:schemeClr val="bg1"/>
                </a:solidFill>
              </a:rPr>
              <a:t>f'log</a:t>
            </a:r>
            <a:r>
              <a:rPr lang="en-IN" sz="800" dirty="0" smtClean="0">
                <a:solidFill>
                  <a:schemeClr val="bg1"/>
                </a:solidFill>
              </a:rPr>
              <a:t>_{col}'] = np.log1p(df[col])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/>
            </a:r>
            <a:br>
              <a:rPr lang="en-IN" sz="800" dirty="0" smtClean="0">
                <a:solidFill>
                  <a:schemeClr val="bg1"/>
                </a:solidFill>
              </a:rPr>
            </a:br>
            <a:r>
              <a:rPr lang="en-IN" sz="800" dirty="0" smtClean="0">
                <a:solidFill>
                  <a:schemeClr val="bg1"/>
                </a:solidFill>
              </a:rPr>
              <a:t>df['covid_dummy'] = ((df['date'] &gt;= '2020-03-01') &amp; (df['date'] &lt;= '2020-06-01')).</a:t>
            </a:r>
            <a:r>
              <a:rPr lang="en-IN" sz="800" dirty="0" err="1" smtClean="0">
                <a:solidFill>
                  <a:schemeClr val="bg1"/>
                </a:solidFill>
              </a:rPr>
              <a:t>astype</a:t>
            </a:r>
            <a:r>
              <a:rPr lang="en-IN" sz="800" dirty="0" smtClean="0">
                <a:solidFill>
                  <a:schemeClr val="bg1"/>
                </a:solidFill>
              </a:rPr>
              <a:t>(</a:t>
            </a:r>
            <a:r>
              <a:rPr lang="en-IN" sz="800" dirty="0" err="1" smtClean="0">
                <a:solidFill>
                  <a:schemeClr val="bg1"/>
                </a:solidFill>
              </a:rPr>
              <a:t>int</a:t>
            </a:r>
            <a:r>
              <a:rPr lang="en-IN" sz="800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df['trend']       = </a:t>
            </a:r>
            <a:r>
              <a:rPr lang="en-IN" sz="800" dirty="0" err="1" smtClean="0">
                <a:solidFill>
                  <a:schemeClr val="bg1"/>
                </a:solidFill>
              </a:rPr>
              <a:t>np.arange</a:t>
            </a:r>
            <a:r>
              <a:rPr lang="en-IN" sz="800" dirty="0" smtClean="0">
                <a:solidFill>
                  <a:schemeClr val="bg1"/>
                </a:solidFill>
              </a:rPr>
              <a:t>(</a:t>
            </a:r>
            <a:r>
              <a:rPr lang="en-IN" sz="800" dirty="0" err="1" smtClean="0">
                <a:solidFill>
                  <a:schemeClr val="bg1"/>
                </a:solidFill>
              </a:rPr>
              <a:t>len</a:t>
            </a:r>
            <a:r>
              <a:rPr lang="en-IN" sz="800" dirty="0" smtClean="0">
                <a:solidFill>
                  <a:schemeClr val="bg1"/>
                </a:solidFill>
              </a:rPr>
              <a:t>(df))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df['year']        = df['date'].</a:t>
            </a:r>
            <a:r>
              <a:rPr lang="en-IN" sz="800" dirty="0" err="1" smtClean="0">
                <a:solidFill>
                  <a:schemeClr val="bg1"/>
                </a:solidFill>
              </a:rPr>
              <a:t>dt.year</a:t>
            </a:r>
            <a:endParaRPr lang="en-IN" sz="800" dirty="0" smtClean="0">
              <a:solidFill>
                <a:schemeClr val="bg1"/>
              </a:solidFill>
            </a:endParaRPr>
          </a:p>
          <a:p>
            <a:r>
              <a:rPr lang="en-IN" sz="800" dirty="0" smtClean="0">
                <a:solidFill>
                  <a:schemeClr val="bg1"/>
                </a:solidFill>
              </a:rPr>
              <a:t>df['month']       = df['date'].</a:t>
            </a:r>
            <a:r>
              <a:rPr lang="en-IN" sz="800" dirty="0" err="1" smtClean="0">
                <a:solidFill>
                  <a:schemeClr val="bg1"/>
                </a:solidFill>
              </a:rPr>
              <a:t>dt.month</a:t>
            </a:r>
            <a:endParaRPr lang="en-IN" sz="800" dirty="0" smtClean="0">
              <a:solidFill>
                <a:schemeClr val="bg1"/>
              </a:solidFill>
            </a:endParaRPr>
          </a:p>
          <a:p>
            <a:r>
              <a:rPr lang="en-IN" sz="800" dirty="0" smtClean="0">
                <a:solidFill>
                  <a:schemeClr val="bg1"/>
                </a:solidFill>
              </a:rPr>
              <a:t/>
            </a:r>
            <a:br>
              <a:rPr lang="en-IN" sz="800" dirty="0" smtClean="0">
                <a:solidFill>
                  <a:schemeClr val="bg1"/>
                </a:solidFill>
              </a:rPr>
            </a:br>
            <a:r>
              <a:rPr lang="en-IN" sz="800" dirty="0" smtClean="0">
                <a:solidFill>
                  <a:schemeClr val="bg1"/>
                </a:solidFill>
              </a:rPr>
              <a:t># Festive season dummy (Oct, Nov, Dec)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df['festive']     = df['month'].</a:t>
            </a:r>
            <a:r>
              <a:rPr lang="en-IN" sz="800" dirty="0" err="1" smtClean="0">
                <a:solidFill>
                  <a:schemeClr val="bg1"/>
                </a:solidFill>
              </a:rPr>
              <a:t>isin</a:t>
            </a:r>
            <a:r>
              <a:rPr lang="en-IN" sz="800" dirty="0" smtClean="0">
                <a:solidFill>
                  <a:schemeClr val="bg1"/>
                </a:solidFill>
              </a:rPr>
              <a:t>([10, 11, 12]).</a:t>
            </a:r>
            <a:r>
              <a:rPr lang="en-IN" sz="800" dirty="0" err="1" smtClean="0">
                <a:solidFill>
                  <a:schemeClr val="bg1"/>
                </a:solidFill>
              </a:rPr>
              <a:t>astype</a:t>
            </a:r>
            <a:r>
              <a:rPr lang="en-IN" sz="800" dirty="0" smtClean="0">
                <a:solidFill>
                  <a:schemeClr val="bg1"/>
                </a:solidFill>
              </a:rPr>
              <a:t>(</a:t>
            </a:r>
            <a:r>
              <a:rPr lang="en-IN" sz="800" dirty="0" err="1" smtClean="0">
                <a:solidFill>
                  <a:schemeClr val="bg1"/>
                </a:solidFill>
              </a:rPr>
              <a:t>int</a:t>
            </a:r>
            <a:r>
              <a:rPr lang="en-IN" sz="800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Y = df['</a:t>
            </a:r>
            <a:r>
              <a:rPr lang="en-IN" sz="800" dirty="0" err="1" smtClean="0">
                <a:solidFill>
                  <a:schemeClr val="bg1"/>
                </a:solidFill>
              </a:rPr>
              <a:t>kpi_val_sales_mn</a:t>
            </a:r>
            <a:r>
              <a:rPr lang="en-IN" sz="800" dirty="0" smtClean="0">
                <a:solidFill>
                  <a:schemeClr val="bg1"/>
                </a:solidFill>
              </a:rPr>
              <a:t>']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/>
            </a:r>
            <a:br>
              <a:rPr lang="en-IN" sz="800" dirty="0" smtClean="0">
                <a:solidFill>
                  <a:schemeClr val="bg1"/>
                </a:solidFill>
              </a:rPr>
            </a:br>
            <a:r>
              <a:rPr lang="en-IN" sz="800" dirty="0" smtClean="0">
                <a:solidFill>
                  <a:schemeClr val="bg1"/>
                </a:solidFill>
              </a:rPr>
              <a:t># ─── MODEL: GRP-based TV, proper specification ─────────────────────────────────</a:t>
            </a:r>
          </a:p>
          <a:p>
            <a:r>
              <a:rPr lang="en-IN" sz="800" dirty="0" err="1" smtClean="0">
                <a:solidFill>
                  <a:schemeClr val="bg1"/>
                </a:solidFill>
              </a:rPr>
              <a:t>X_cols</a:t>
            </a:r>
            <a:r>
              <a:rPr lang="en-IN" sz="800" dirty="0" smtClean="0">
                <a:solidFill>
                  <a:schemeClr val="bg1"/>
                </a:solidFill>
              </a:rPr>
              <a:t> = ['log_tv_grp_adstock','log_newspaper_adstock','log_digital_adstock',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          'log_trade_</a:t>
            </a:r>
            <a:r>
              <a:rPr lang="en-IN" sz="800" dirty="0" err="1" smtClean="0">
                <a:solidFill>
                  <a:schemeClr val="bg1"/>
                </a:solidFill>
              </a:rPr>
              <a:t>adstock</a:t>
            </a:r>
            <a:r>
              <a:rPr lang="en-IN" sz="800" dirty="0" smtClean="0">
                <a:solidFill>
                  <a:schemeClr val="bg1"/>
                </a:solidFill>
              </a:rPr>
              <a:t>','</a:t>
            </a:r>
            <a:r>
              <a:rPr lang="en-IN" sz="800" dirty="0" err="1" smtClean="0">
                <a:solidFill>
                  <a:schemeClr val="bg1"/>
                </a:solidFill>
              </a:rPr>
              <a:t>log_consumer_adstock</a:t>
            </a:r>
            <a:r>
              <a:rPr lang="en-IN" sz="800" dirty="0" smtClean="0">
                <a:solidFill>
                  <a:schemeClr val="bg1"/>
                </a:solidFill>
              </a:rPr>
              <a:t>',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          '</a:t>
            </a:r>
            <a:r>
              <a:rPr lang="en-IN" sz="800" dirty="0" err="1" smtClean="0">
                <a:solidFill>
                  <a:schemeClr val="bg1"/>
                </a:solidFill>
              </a:rPr>
              <a:t>log_wtd_dist_max','covid_dummy','festive','trend</a:t>
            </a:r>
            <a:r>
              <a:rPr lang="en-IN" sz="800" dirty="0" smtClean="0">
                <a:solidFill>
                  <a:schemeClr val="bg1"/>
                </a:solidFill>
              </a:rPr>
              <a:t>']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X = </a:t>
            </a:r>
            <a:r>
              <a:rPr lang="en-IN" sz="800" dirty="0" err="1" smtClean="0">
                <a:solidFill>
                  <a:schemeClr val="bg1"/>
                </a:solidFill>
              </a:rPr>
              <a:t>add_constant</a:t>
            </a:r>
            <a:r>
              <a:rPr lang="en-IN" sz="800" dirty="0" smtClean="0">
                <a:solidFill>
                  <a:schemeClr val="bg1"/>
                </a:solidFill>
              </a:rPr>
              <a:t>(df[</a:t>
            </a:r>
            <a:r>
              <a:rPr lang="en-IN" sz="800" dirty="0" err="1" smtClean="0">
                <a:solidFill>
                  <a:schemeClr val="bg1"/>
                </a:solidFill>
              </a:rPr>
              <a:t>X_cols</a:t>
            </a:r>
            <a:r>
              <a:rPr lang="en-IN" sz="800" dirty="0" smtClean="0">
                <a:solidFill>
                  <a:schemeClr val="bg1"/>
                </a:solidFill>
              </a:rPr>
              <a:t>])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model = OLS(Y, X).fit()</a:t>
            </a:r>
          </a:p>
          <a:p>
            <a:r>
              <a:rPr lang="en-IN" sz="800" dirty="0" err="1" smtClean="0">
                <a:solidFill>
                  <a:schemeClr val="bg1"/>
                </a:solidFill>
              </a:rPr>
              <a:t>dw</a:t>
            </a:r>
            <a:r>
              <a:rPr lang="en-IN" sz="800" dirty="0" smtClean="0">
                <a:solidFill>
                  <a:schemeClr val="bg1"/>
                </a:solidFill>
              </a:rPr>
              <a:t> = </a:t>
            </a:r>
            <a:r>
              <a:rPr lang="en-IN" sz="800" dirty="0" err="1" smtClean="0">
                <a:solidFill>
                  <a:schemeClr val="bg1"/>
                </a:solidFill>
              </a:rPr>
              <a:t>durbin_watson</a:t>
            </a:r>
            <a:r>
              <a:rPr lang="en-IN" sz="800" dirty="0" smtClean="0">
                <a:solidFill>
                  <a:schemeClr val="bg1"/>
                </a:solidFill>
              </a:rPr>
              <a:t>(</a:t>
            </a:r>
            <a:r>
              <a:rPr lang="en-IN" sz="800" dirty="0" err="1" smtClean="0">
                <a:solidFill>
                  <a:schemeClr val="bg1"/>
                </a:solidFill>
              </a:rPr>
              <a:t>model.resid</a:t>
            </a:r>
            <a:r>
              <a:rPr lang="en-IN" sz="800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/>
            </a:r>
            <a:br>
              <a:rPr lang="en-IN" sz="800" dirty="0" smtClean="0">
                <a:solidFill>
                  <a:schemeClr val="bg1"/>
                </a:solidFill>
              </a:rPr>
            </a:br>
            <a:r>
              <a:rPr lang="en-IN" sz="800" dirty="0" smtClean="0">
                <a:solidFill>
                  <a:schemeClr val="bg1"/>
                </a:solidFill>
              </a:rPr>
              <a:t>print("=== FINAL MODEL (GRP-based, Festive, Full Spec) ===")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print(</a:t>
            </a:r>
            <a:r>
              <a:rPr lang="en-IN" sz="800" dirty="0" err="1" smtClean="0">
                <a:solidFill>
                  <a:schemeClr val="bg1"/>
                </a:solidFill>
              </a:rPr>
              <a:t>model.summary</a:t>
            </a:r>
            <a:r>
              <a:rPr lang="en-IN" sz="800" dirty="0" smtClean="0">
                <a:solidFill>
                  <a:schemeClr val="bg1"/>
                </a:solidFill>
              </a:rPr>
              <a:t>())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print(f"\</a:t>
            </a:r>
            <a:r>
              <a:rPr lang="en-IN" sz="800" dirty="0" err="1" smtClean="0">
                <a:solidFill>
                  <a:schemeClr val="bg1"/>
                </a:solidFill>
              </a:rPr>
              <a:t>nDurbin</a:t>
            </a:r>
            <a:r>
              <a:rPr lang="en-IN" sz="800" dirty="0" smtClean="0">
                <a:solidFill>
                  <a:schemeClr val="bg1"/>
                </a:solidFill>
              </a:rPr>
              <a:t>-Watson: {dw:.4f}")</a:t>
            </a:r>
          </a:p>
          <a:p>
            <a:r>
              <a:rPr lang="en-IN" sz="800" dirty="0" err="1" smtClean="0">
                <a:solidFill>
                  <a:schemeClr val="bg1"/>
                </a:solidFill>
              </a:rPr>
              <a:t>vif_df</a:t>
            </a:r>
            <a:r>
              <a:rPr lang="en-IN" sz="800" dirty="0" smtClean="0">
                <a:solidFill>
                  <a:schemeClr val="bg1"/>
                </a:solidFill>
              </a:rPr>
              <a:t> = </a:t>
            </a:r>
            <a:r>
              <a:rPr lang="en-IN" sz="800" dirty="0" err="1" smtClean="0">
                <a:solidFill>
                  <a:schemeClr val="bg1"/>
                </a:solidFill>
              </a:rPr>
              <a:t>pd.DataFrame</a:t>
            </a:r>
            <a:r>
              <a:rPr lang="en-IN" sz="800" dirty="0" smtClean="0">
                <a:solidFill>
                  <a:schemeClr val="bg1"/>
                </a:solidFill>
              </a:rPr>
              <a:t>({'Variable': </a:t>
            </a:r>
            <a:r>
              <a:rPr lang="en-IN" sz="800" dirty="0" err="1" smtClean="0">
                <a:solidFill>
                  <a:schemeClr val="bg1"/>
                </a:solidFill>
              </a:rPr>
              <a:t>X_cols</a:t>
            </a:r>
            <a:r>
              <a:rPr lang="en-IN" sz="800" dirty="0" smtClean="0">
                <a:solidFill>
                  <a:schemeClr val="bg1"/>
                </a:solidFill>
              </a:rPr>
              <a:t>,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                        'VIF': [</a:t>
            </a:r>
            <a:r>
              <a:rPr lang="en-IN" sz="800" dirty="0" err="1" smtClean="0">
                <a:solidFill>
                  <a:schemeClr val="bg1"/>
                </a:solidFill>
              </a:rPr>
              <a:t>variance_inflation_factor</a:t>
            </a:r>
            <a:r>
              <a:rPr lang="en-IN" sz="800" dirty="0" smtClean="0">
                <a:solidFill>
                  <a:schemeClr val="bg1"/>
                </a:solidFill>
              </a:rPr>
              <a:t>(</a:t>
            </a:r>
            <a:r>
              <a:rPr lang="en-IN" sz="800" dirty="0" err="1" smtClean="0">
                <a:solidFill>
                  <a:schemeClr val="bg1"/>
                </a:solidFill>
              </a:rPr>
              <a:t>X.values</a:t>
            </a:r>
            <a:r>
              <a:rPr lang="en-IN" sz="800" dirty="0" smtClean="0">
                <a:solidFill>
                  <a:schemeClr val="bg1"/>
                </a:solidFill>
              </a:rPr>
              <a:t>, i+1) for i in range(</a:t>
            </a:r>
            <a:r>
              <a:rPr lang="en-IN" sz="800" dirty="0" err="1" smtClean="0">
                <a:solidFill>
                  <a:schemeClr val="bg1"/>
                </a:solidFill>
              </a:rPr>
              <a:t>len</a:t>
            </a:r>
            <a:r>
              <a:rPr lang="en-IN" sz="800" dirty="0" smtClean="0">
                <a:solidFill>
                  <a:schemeClr val="bg1"/>
                </a:solidFill>
              </a:rPr>
              <a:t>(</a:t>
            </a:r>
            <a:r>
              <a:rPr lang="en-IN" sz="800" dirty="0" err="1" smtClean="0">
                <a:solidFill>
                  <a:schemeClr val="bg1"/>
                </a:solidFill>
              </a:rPr>
              <a:t>X_cols</a:t>
            </a:r>
            <a:r>
              <a:rPr lang="en-IN" sz="800" dirty="0" smtClean="0">
                <a:solidFill>
                  <a:schemeClr val="bg1"/>
                </a:solidFill>
              </a:rPr>
              <a:t>))]})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print("\n=== VIF ===")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>print(</a:t>
            </a:r>
            <a:r>
              <a:rPr lang="en-IN" sz="800" dirty="0" err="1" smtClean="0">
                <a:solidFill>
                  <a:schemeClr val="bg1"/>
                </a:solidFill>
              </a:rPr>
              <a:t>vif_df.sort_values</a:t>
            </a:r>
            <a:r>
              <a:rPr lang="en-IN" sz="800" dirty="0" smtClean="0">
                <a:solidFill>
                  <a:schemeClr val="bg1"/>
                </a:solidFill>
              </a:rPr>
              <a:t>('VIF', ascending=False).</a:t>
            </a:r>
            <a:r>
              <a:rPr lang="en-IN" sz="800" dirty="0" err="1" smtClean="0">
                <a:solidFill>
                  <a:schemeClr val="bg1"/>
                </a:solidFill>
              </a:rPr>
              <a:t>to_string</a:t>
            </a:r>
            <a:r>
              <a:rPr lang="en-IN" sz="800" dirty="0" smtClean="0">
                <a:solidFill>
                  <a:schemeClr val="bg1"/>
                </a:solidFill>
              </a:rPr>
              <a:t>(index=False))</a:t>
            </a:r>
          </a:p>
          <a:p>
            <a:r>
              <a:rPr lang="en-IN" sz="800" dirty="0" smtClean="0">
                <a:solidFill>
                  <a:schemeClr val="bg1"/>
                </a:solidFill>
              </a:rPr>
              <a:t/>
            </a:r>
            <a:br>
              <a:rPr lang="en-IN" sz="800" dirty="0" smtClean="0">
                <a:solidFill>
                  <a:schemeClr val="bg1"/>
                </a:solidFill>
              </a:rPr>
            </a:br>
            <a:r>
              <a:rPr lang="en-IN" sz="800" dirty="0" smtClean="0">
                <a:solidFill>
                  <a:schemeClr val="bg1"/>
                </a:solidFill>
              </a:rPr>
              <a:t># Counterfactual contributions</a:t>
            </a:r>
          </a:p>
          <a:p>
            <a:r>
              <a:rPr lang="en-IN" sz="800" dirty="0" err="1" smtClean="0">
                <a:solidFill>
                  <a:schemeClr val="bg1"/>
                </a:solidFill>
              </a:rPr>
              <a:t>full_fitted</a:t>
            </a:r>
            <a:r>
              <a:rPr lang="en-IN" sz="800" dirty="0" smtClean="0">
                <a:solidFill>
                  <a:schemeClr val="bg1"/>
                </a:solidFill>
              </a:rPr>
              <a:t> = </a:t>
            </a:r>
            <a:r>
              <a:rPr lang="en-IN" sz="800" dirty="0" err="1" smtClean="0">
                <a:solidFill>
                  <a:schemeClr val="bg1"/>
                </a:solidFill>
              </a:rPr>
              <a:t>model.fittedvalues</a:t>
            </a:r>
            <a:endParaRPr lang="en-IN" sz="800" dirty="0" smtClean="0">
              <a:solidFill>
                <a:schemeClr val="bg1"/>
              </a:solidFill>
            </a:endParaRPr>
          </a:p>
          <a:p>
            <a:r>
              <a:rPr lang="en-IN" sz="800" dirty="0" err="1" smtClean="0">
                <a:solidFill>
                  <a:schemeClr val="bg1"/>
                </a:solidFill>
              </a:rPr>
              <a:t>params</a:t>
            </a:r>
            <a:r>
              <a:rPr lang="en-IN" sz="800" dirty="0" smtClean="0">
                <a:solidFill>
                  <a:schemeClr val="bg1"/>
                </a:solidFill>
              </a:rPr>
              <a:t> = </a:t>
            </a:r>
            <a:r>
              <a:rPr lang="en-IN" sz="800" dirty="0" err="1" smtClean="0">
                <a:solidFill>
                  <a:schemeClr val="bg1"/>
                </a:solidFill>
              </a:rPr>
              <a:t>model.params</a:t>
            </a:r>
            <a:endParaRPr lang="en-IN" sz="800" dirty="0" smtClean="0">
              <a:solidFill>
                <a:schemeClr val="bg1"/>
              </a:solidFill>
            </a:endParaRPr>
          </a:p>
          <a:p>
            <a:r>
              <a:rPr lang="en-IN" sz="800" dirty="0" smtClean="0">
                <a:solidFill>
                  <a:schemeClr val="bg1"/>
                </a:solidFill>
              </a:rPr>
              <a:t/>
            </a:r>
            <a:br>
              <a:rPr lang="en-IN" sz="800" dirty="0" smtClean="0">
                <a:solidFill>
                  <a:schemeClr val="bg1"/>
                </a:solidFill>
              </a:rPr>
            </a:b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26180" y="852821"/>
            <a:ext cx="3073592" cy="5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err="1">
                <a:solidFill>
                  <a:schemeClr val="bg1"/>
                </a:solidFill>
              </a:rPr>
              <a:t>def</a:t>
            </a:r>
            <a:r>
              <a:rPr lang="en-IN" sz="800" dirty="0">
                <a:solidFill>
                  <a:schemeClr val="bg1"/>
                </a:solidFill>
              </a:rPr>
              <a:t> </a:t>
            </a:r>
            <a:r>
              <a:rPr lang="en-IN" sz="800" dirty="0" err="1">
                <a:solidFill>
                  <a:schemeClr val="bg1"/>
                </a:solidFill>
              </a:rPr>
              <a:t>cf_contrib</a:t>
            </a:r>
            <a:r>
              <a:rPr lang="en-IN" sz="800" dirty="0">
                <a:solidFill>
                  <a:schemeClr val="bg1"/>
                </a:solidFill>
              </a:rPr>
              <a:t>(</a:t>
            </a:r>
            <a:r>
              <a:rPr lang="en-IN" sz="800" dirty="0" err="1">
                <a:solidFill>
                  <a:schemeClr val="bg1"/>
                </a:solidFill>
              </a:rPr>
              <a:t>var_col</a:t>
            </a:r>
            <a:r>
              <a:rPr lang="en-IN" sz="800" dirty="0">
                <a:solidFill>
                  <a:schemeClr val="bg1"/>
                </a:solidFill>
              </a:rPr>
              <a:t>):</a:t>
            </a:r>
          </a:p>
          <a:p>
            <a:r>
              <a:rPr lang="en-IN" sz="800" dirty="0">
                <a:solidFill>
                  <a:schemeClr val="bg1"/>
                </a:solidFill>
              </a:rPr>
              <a:t>    </a:t>
            </a:r>
            <a:r>
              <a:rPr lang="en-IN" sz="800" dirty="0" err="1">
                <a:solidFill>
                  <a:schemeClr val="bg1"/>
                </a:solidFill>
              </a:rPr>
              <a:t>Xz</a:t>
            </a:r>
            <a:r>
              <a:rPr lang="en-IN" sz="800" dirty="0">
                <a:solidFill>
                  <a:schemeClr val="bg1"/>
                </a:solidFill>
              </a:rPr>
              <a:t> = </a:t>
            </a:r>
            <a:r>
              <a:rPr lang="en-IN" sz="800" dirty="0" err="1">
                <a:solidFill>
                  <a:schemeClr val="bg1"/>
                </a:solidFill>
              </a:rPr>
              <a:t>X.copy</a:t>
            </a:r>
            <a:r>
              <a:rPr lang="en-IN" sz="800" dirty="0">
                <a:solidFill>
                  <a:schemeClr val="bg1"/>
                </a:solidFill>
              </a:rPr>
              <a:t>()</a:t>
            </a:r>
          </a:p>
          <a:p>
            <a:r>
              <a:rPr lang="en-IN" sz="800" dirty="0">
                <a:solidFill>
                  <a:schemeClr val="bg1"/>
                </a:solidFill>
              </a:rPr>
              <a:t>    </a:t>
            </a:r>
            <a:r>
              <a:rPr lang="en-IN" sz="800" dirty="0" err="1">
                <a:solidFill>
                  <a:schemeClr val="bg1"/>
                </a:solidFill>
              </a:rPr>
              <a:t>Xz</a:t>
            </a:r>
            <a:r>
              <a:rPr lang="en-IN" sz="800" dirty="0">
                <a:solidFill>
                  <a:schemeClr val="bg1"/>
                </a:solidFill>
              </a:rPr>
              <a:t>[</a:t>
            </a:r>
            <a:r>
              <a:rPr lang="en-IN" sz="800" dirty="0" err="1">
                <a:solidFill>
                  <a:schemeClr val="bg1"/>
                </a:solidFill>
              </a:rPr>
              <a:t>var_col</a:t>
            </a:r>
            <a:r>
              <a:rPr lang="en-IN" sz="800" dirty="0">
                <a:solidFill>
                  <a:schemeClr val="bg1"/>
                </a:solidFill>
              </a:rPr>
              <a:t>] = 0</a:t>
            </a:r>
          </a:p>
          <a:p>
            <a:r>
              <a:rPr lang="en-IN" sz="800" dirty="0">
                <a:solidFill>
                  <a:schemeClr val="bg1"/>
                </a:solidFill>
              </a:rPr>
              <a:t>    return (</a:t>
            </a:r>
            <a:r>
              <a:rPr lang="en-IN" sz="800" dirty="0" err="1">
                <a:solidFill>
                  <a:schemeClr val="bg1"/>
                </a:solidFill>
              </a:rPr>
              <a:t>full_fitted</a:t>
            </a:r>
            <a:r>
              <a:rPr lang="en-IN" sz="800" dirty="0">
                <a:solidFill>
                  <a:schemeClr val="bg1"/>
                </a:solidFill>
              </a:rPr>
              <a:t> - </a:t>
            </a:r>
            <a:r>
              <a:rPr lang="en-IN" sz="800" dirty="0" err="1">
                <a:solidFill>
                  <a:schemeClr val="bg1"/>
                </a:solidFill>
              </a:rPr>
              <a:t>model.predict</a:t>
            </a:r>
            <a:r>
              <a:rPr lang="en-IN" sz="800" dirty="0">
                <a:solidFill>
                  <a:schemeClr val="bg1"/>
                </a:solidFill>
              </a:rPr>
              <a:t>(</a:t>
            </a:r>
            <a:r>
              <a:rPr lang="en-IN" sz="800" dirty="0" err="1">
                <a:solidFill>
                  <a:schemeClr val="bg1"/>
                </a:solidFill>
              </a:rPr>
              <a:t>Xz</a:t>
            </a:r>
            <a:r>
              <a:rPr lang="en-IN" sz="800" dirty="0">
                <a:solidFill>
                  <a:schemeClr val="bg1"/>
                </a:solidFill>
              </a:rPr>
              <a:t>)).</a:t>
            </a:r>
            <a:r>
              <a:rPr lang="en-IN" sz="800" dirty="0" smtClean="0">
                <a:solidFill>
                  <a:schemeClr val="bg1"/>
                </a:solidFill>
              </a:rPr>
              <a:t>sum()</a:t>
            </a:r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 err="1">
                <a:solidFill>
                  <a:schemeClr val="bg1"/>
                </a:solidFill>
              </a:rPr>
              <a:t>channel_map</a:t>
            </a:r>
            <a:r>
              <a:rPr lang="en-IN" sz="800" dirty="0">
                <a:solidFill>
                  <a:schemeClr val="bg1"/>
                </a:solidFill>
              </a:rPr>
              <a:t> = {</a:t>
            </a:r>
          </a:p>
          <a:p>
            <a:r>
              <a:rPr lang="en-IN" sz="800" dirty="0">
                <a:solidFill>
                  <a:schemeClr val="bg1"/>
                </a:solidFill>
              </a:rPr>
              <a:t>    'TV (GRP)':      ('</a:t>
            </a:r>
            <a:r>
              <a:rPr lang="en-IN" sz="800" dirty="0" err="1">
                <a:solidFill>
                  <a:schemeClr val="bg1"/>
                </a:solidFill>
              </a:rPr>
              <a:t>log_tv_grp_adstock</a:t>
            </a:r>
            <a:r>
              <a:rPr lang="en-IN" sz="800" dirty="0">
                <a:solidFill>
                  <a:schemeClr val="bg1"/>
                </a:solidFill>
              </a:rPr>
              <a:t>',    df['</a:t>
            </a:r>
            <a:r>
              <a:rPr lang="en-IN" sz="800" dirty="0" err="1">
                <a:solidFill>
                  <a:schemeClr val="bg1"/>
                </a:solidFill>
              </a:rPr>
              <a:t>tv_total_spends_mn</a:t>
            </a:r>
            <a:r>
              <a:rPr lang="en-IN" sz="800" dirty="0">
                <a:solidFill>
                  <a:schemeClr val="bg1"/>
                </a:solidFill>
              </a:rPr>
              <a:t>'].sum()),</a:t>
            </a:r>
          </a:p>
          <a:p>
            <a:r>
              <a:rPr lang="en-IN" sz="800" dirty="0">
                <a:solidFill>
                  <a:schemeClr val="bg1"/>
                </a:solidFill>
              </a:rPr>
              <a:t>    'Newspaper':     ('log_newspaper_adstock',   df['</a:t>
            </a:r>
            <a:r>
              <a:rPr lang="en-IN" sz="800" dirty="0" err="1">
                <a:solidFill>
                  <a:schemeClr val="bg1"/>
                </a:solidFill>
              </a:rPr>
              <a:t>newspaper_spends_mn</a:t>
            </a:r>
            <a:r>
              <a:rPr lang="en-IN" sz="800" dirty="0">
                <a:solidFill>
                  <a:schemeClr val="bg1"/>
                </a:solidFill>
              </a:rPr>
              <a:t>'].sum()),</a:t>
            </a:r>
          </a:p>
          <a:p>
            <a:r>
              <a:rPr lang="en-IN" sz="800" dirty="0">
                <a:solidFill>
                  <a:schemeClr val="bg1"/>
                </a:solidFill>
              </a:rPr>
              <a:t>    'Digital':       ('log_digital_adstock',     df['</a:t>
            </a:r>
            <a:r>
              <a:rPr lang="en-IN" sz="800" dirty="0" err="1">
                <a:solidFill>
                  <a:schemeClr val="bg1"/>
                </a:solidFill>
              </a:rPr>
              <a:t>digital_spends_mn</a:t>
            </a:r>
            <a:r>
              <a:rPr lang="en-IN" sz="800" dirty="0">
                <a:solidFill>
                  <a:schemeClr val="bg1"/>
                </a:solidFill>
              </a:rPr>
              <a:t>'].sum()),</a:t>
            </a:r>
          </a:p>
          <a:p>
            <a:r>
              <a:rPr lang="en-IN" sz="800" dirty="0">
                <a:solidFill>
                  <a:schemeClr val="bg1"/>
                </a:solidFill>
              </a:rPr>
              <a:t>    'Trade Promo':   ('</a:t>
            </a:r>
            <a:r>
              <a:rPr lang="en-IN" sz="800" dirty="0" err="1">
                <a:solidFill>
                  <a:schemeClr val="bg1"/>
                </a:solidFill>
              </a:rPr>
              <a:t>log_trade_adstock</a:t>
            </a:r>
            <a:r>
              <a:rPr lang="en-IN" sz="800" dirty="0">
                <a:solidFill>
                  <a:schemeClr val="bg1"/>
                </a:solidFill>
              </a:rPr>
              <a:t>',       df['</a:t>
            </a:r>
            <a:r>
              <a:rPr lang="en-IN" sz="800" dirty="0" err="1">
                <a:solidFill>
                  <a:schemeClr val="bg1"/>
                </a:solidFill>
              </a:rPr>
              <a:t>trade_promo_spends_mn</a:t>
            </a:r>
            <a:r>
              <a:rPr lang="en-IN" sz="800" dirty="0">
                <a:solidFill>
                  <a:schemeClr val="bg1"/>
                </a:solidFill>
              </a:rPr>
              <a:t>'].sum()),</a:t>
            </a:r>
          </a:p>
          <a:p>
            <a:r>
              <a:rPr lang="en-IN" sz="800" dirty="0">
                <a:solidFill>
                  <a:schemeClr val="bg1"/>
                </a:solidFill>
              </a:rPr>
              <a:t>    'Consumer Promo':('</a:t>
            </a:r>
            <a:r>
              <a:rPr lang="en-IN" sz="800" dirty="0" err="1">
                <a:solidFill>
                  <a:schemeClr val="bg1"/>
                </a:solidFill>
              </a:rPr>
              <a:t>log_consumer_adstock</a:t>
            </a:r>
            <a:r>
              <a:rPr lang="en-IN" sz="800" dirty="0">
                <a:solidFill>
                  <a:schemeClr val="bg1"/>
                </a:solidFill>
              </a:rPr>
              <a:t>',    df['</a:t>
            </a:r>
            <a:r>
              <a:rPr lang="en-IN" sz="800" dirty="0" err="1">
                <a:solidFill>
                  <a:schemeClr val="bg1"/>
                </a:solidFill>
              </a:rPr>
              <a:t>consumer_promo_spends_mn</a:t>
            </a:r>
            <a:r>
              <a:rPr lang="en-IN" sz="800" dirty="0">
                <a:solidFill>
                  <a:schemeClr val="bg1"/>
                </a:solidFill>
              </a:rPr>
              <a:t>'].sum()),</a:t>
            </a:r>
          </a:p>
          <a:p>
            <a:r>
              <a:rPr lang="en-IN" sz="800" dirty="0">
                <a:solidFill>
                  <a:schemeClr val="bg1"/>
                </a:solidFill>
              </a:rPr>
              <a:t>}</a:t>
            </a:r>
          </a:p>
          <a:p>
            <a:r>
              <a:rPr lang="en-IN" sz="800" dirty="0" err="1">
                <a:solidFill>
                  <a:schemeClr val="bg1"/>
                </a:solidFill>
              </a:rPr>
              <a:t>channel_contribs</a:t>
            </a:r>
            <a:r>
              <a:rPr lang="en-IN" sz="800" dirty="0">
                <a:solidFill>
                  <a:schemeClr val="bg1"/>
                </a:solidFill>
              </a:rPr>
              <a:t> = {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: float(</a:t>
            </a:r>
            <a:r>
              <a:rPr lang="en-IN" sz="800" dirty="0" err="1">
                <a:solidFill>
                  <a:schemeClr val="bg1"/>
                </a:solidFill>
              </a:rPr>
              <a:t>cf_contrib</a:t>
            </a:r>
            <a:r>
              <a:rPr lang="en-IN" sz="800" dirty="0">
                <a:solidFill>
                  <a:schemeClr val="bg1"/>
                </a:solidFill>
              </a:rPr>
              <a:t>(</a:t>
            </a:r>
            <a:r>
              <a:rPr lang="en-IN" sz="800" dirty="0" err="1">
                <a:solidFill>
                  <a:schemeClr val="bg1"/>
                </a:solidFill>
              </a:rPr>
              <a:t>var</a:t>
            </a:r>
            <a:r>
              <a:rPr lang="en-IN" sz="800" dirty="0">
                <a:solidFill>
                  <a:schemeClr val="bg1"/>
                </a:solidFill>
              </a:rPr>
              <a:t>)) for 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, (</a:t>
            </a:r>
            <a:r>
              <a:rPr lang="en-IN" sz="800" dirty="0" err="1">
                <a:solidFill>
                  <a:schemeClr val="bg1"/>
                </a:solidFill>
              </a:rPr>
              <a:t>var</a:t>
            </a:r>
            <a:r>
              <a:rPr lang="en-IN" sz="800" dirty="0">
                <a:solidFill>
                  <a:schemeClr val="bg1"/>
                </a:solidFill>
              </a:rPr>
              <a:t>, _) in </a:t>
            </a:r>
            <a:r>
              <a:rPr lang="en-IN" sz="800" dirty="0" err="1">
                <a:solidFill>
                  <a:schemeClr val="bg1"/>
                </a:solidFill>
              </a:rPr>
              <a:t>channel_map.items</a:t>
            </a:r>
            <a:r>
              <a:rPr lang="en-IN" sz="800" dirty="0">
                <a:solidFill>
                  <a:schemeClr val="bg1"/>
                </a:solidFill>
              </a:rPr>
              <a:t>()}</a:t>
            </a:r>
          </a:p>
          <a:p>
            <a:r>
              <a:rPr lang="en-IN" sz="800" dirty="0">
                <a:solidFill>
                  <a:schemeClr val="bg1"/>
                </a:solidFill>
              </a:rPr>
              <a:t>spends = {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: float(</a:t>
            </a:r>
            <a:r>
              <a:rPr lang="en-IN" sz="800" dirty="0" err="1">
                <a:solidFill>
                  <a:schemeClr val="bg1"/>
                </a:solidFill>
              </a:rPr>
              <a:t>sp</a:t>
            </a:r>
            <a:r>
              <a:rPr lang="en-IN" sz="800" dirty="0">
                <a:solidFill>
                  <a:schemeClr val="bg1"/>
                </a:solidFill>
              </a:rPr>
              <a:t>) for 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, (_, </a:t>
            </a:r>
            <a:r>
              <a:rPr lang="en-IN" sz="800" dirty="0" err="1">
                <a:solidFill>
                  <a:schemeClr val="bg1"/>
                </a:solidFill>
              </a:rPr>
              <a:t>sp</a:t>
            </a:r>
            <a:r>
              <a:rPr lang="en-IN" sz="800" dirty="0">
                <a:solidFill>
                  <a:schemeClr val="bg1"/>
                </a:solidFill>
              </a:rPr>
              <a:t>) in </a:t>
            </a:r>
            <a:r>
              <a:rPr lang="en-IN" sz="800" dirty="0" err="1">
                <a:solidFill>
                  <a:schemeClr val="bg1"/>
                </a:solidFill>
              </a:rPr>
              <a:t>channel_map.items</a:t>
            </a:r>
            <a:r>
              <a:rPr lang="en-IN" sz="800" dirty="0">
                <a:solidFill>
                  <a:schemeClr val="bg1"/>
                </a:solidFill>
              </a:rPr>
              <a:t>()}</a:t>
            </a:r>
          </a:p>
          <a:p>
            <a:r>
              <a:rPr lang="en-IN" sz="800" dirty="0" err="1">
                <a:solidFill>
                  <a:schemeClr val="bg1"/>
                </a:solidFill>
              </a:rPr>
              <a:t>roi_dict</a:t>
            </a:r>
            <a:r>
              <a:rPr lang="en-IN" sz="800" dirty="0">
                <a:solidFill>
                  <a:schemeClr val="bg1"/>
                </a:solidFill>
              </a:rPr>
              <a:t> = {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: </a:t>
            </a:r>
            <a:r>
              <a:rPr lang="en-IN" sz="800" dirty="0" err="1">
                <a:solidFill>
                  <a:schemeClr val="bg1"/>
                </a:solidFill>
              </a:rPr>
              <a:t>channel_contribs</a:t>
            </a:r>
            <a:r>
              <a:rPr lang="en-IN" sz="800" dirty="0">
                <a:solidFill>
                  <a:schemeClr val="bg1"/>
                </a:solidFill>
              </a:rPr>
              <a:t>[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]/spends[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] if spends[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] &gt; 0 else 0 for 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 in </a:t>
            </a:r>
            <a:r>
              <a:rPr lang="en-IN" sz="800" dirty="0" err="1">
                <a:solidFill>
                  <a:schemeClr val="bg1"/>
                </a:solidFill>
              </a:rPr>
              <a:t>channel_map</a:t>
            </a:r>
            <a:r>
              <a:rPr lang="en-IN" sz="800" dirty="0">
                <a:solidFill>
                  <a:schemeClr val="bg1"/>
                </a:solidFill>
              </a:rPr>
              <a:t>}</a:t>
            </a:r>
          </a:p>
          <a:p>
            <a:r>
              <a:rPr lang="en-IN" sz="800" dirty="0">
                <a:solidFill>
                  <a:schemeClr val="bg1"/>
                </a:solidFill>
              </a:rPr>
              <a:t/>
            </a:r>
            <a:br>
              <a:rPr lang="en-IN" sz="800" dirty="0">
                <a:solidFill>
                  <a:schemeClr val="bg1"/>
                </a:solidFill>
              </a:rPr>
            </a:br>
            <a:r>
              <a:rPr lang="en-IN" sz="800" dirty="0" err="1">
                <a:solidFill>
                  <a:schemeClr val="bg1"/>
                </a:solidFill>
              </a:rPr>
              <a:t>covid_contrib</a:t>
            </a:r>
            <a:r>
              <a:rPr lang="en-IN" sz="800" dirty="0">
                <a:solidFill>
                  <a:schemeClr val="bg1"/>
                </a:solidFill>
              </a:rPr>
              <a:t> = float((</a:t>
            </a:r>
            <a:r>
              <a:rPr lang="en-IN" sz="800" dirty="0" err="1">
                <a:solidFill>
                  <a:schemeClr val="bg1"/>
                </a:solidFill>
              </a:rPr>
              <a:t>params</a:t>
            </a:r>
            <a:r>
              <a:rPr lang="en-IN" sz="800" dirty="0">
                <a:solidFill>
                  <a:schemeClr val="bg1"/>
                </a:solidFill>
              </a:rPr>
              <a:t>['covid_dummy']*df['covid_dummy']).sum())</a:t>
            </a:r>
          </a:p>
          <a:p>
            <a:r>
              <a:rPr lang="en-IN" sz="800" dirty="0" err="1">
                <a:solidFill>
                  <a:schemeClr val="bg1"/>
                </a:solidFill>
              </a:rPr>
              <a:t>festive_contrib</a:t>
            </a:r>
            <a:r>
              <a:rPr lang="en-IN" sz="800" dirty="0">
                <a:solidFill>
                  <a:schemeClr val="bg1"/>
                </a:solidFill>
              </a:rPr>
              <a:t> = float((</a:t>
            </a:r>
            <a:r>
              <a:rPr lang="en-IN" sz="800" dirty="0" err="1">
                <a:solidFill>
                  <a:schemeClr val="bg1"/>
                </a:solidFill>
              </a:rPr>
              <a:t>params</a:t>
            </a:r>
            <a:r>
              <a:rPr lang="en-IN" sz="800" dirty="0">
                <a:solidFill>
                  <a:schemeClr val="bg1"/>
                </a:solidFill>
              </a:rPr>
              <a:t>['festive']*df['festive']).sum())</a:t>
            </a:r>
          </a:p>
          <a:p>
            <a:r>
              <a:rPr lang="en-IN" sz="800" dirty="0" err="1">
                <a:solidFill>
                  <a:schemeClr val="bg1"/>
                </a:solidFill>
              </a:rPr>
              <a:t>total_actual</a:t>
            </a:r>
            <a:r>
              <a:rPr lang="en-IN" sz="800" dirty="0">
                <a:solidFill>
                  <a:schemeClr val="bg1"/>
                </a:solidFill>
              </a:rPr>
              <a:t> = float(</a:t>
            </a:r>
            <a:r>
              <a:rPr lang="en-IN" sz="800" dirty="0" err="1">
                <a:solidFill>
                  <a:schemeClr val="bg1"/>
                </a:solidFill>
              </a:rPr>
              <a:t>Y.sum</a:t>
            </a:r>
            <a:r>
              <a:rPr lang="en-IN" sz="800" dirty="0">
                <a:solidFill>
                  <a:schemeClr val="bg1"/>
                </a:solidFill>
              </a:rPr>
              <a:t>())</a:t>
            </a:r>
          </a:p>
          <a:p>
            <a:r>
              <a:rPr lang="en-IN" sz="800" dirty="0" err="1">
                <a:solidFill>
                  <a:schemeClr val="bg1"/>
                </a:solidFill>
              </a:rPr>
              <a:t>total_media</a:t>
            </a:r>
            <a:r>
              <a:rPr lang="en-IN" sz="800" dirty="0">
                <a:solidFill>
                  <a:schemeClr val="bg1"/>
                </a:solidFill>
              </a:rPr>
              <a:t>  = sum(</a:t>
            </a:r>
            <a:r>
              <a:rPr lang="en-IN" sz="800" dirty="0" err="1">
                <a:solidFill>
                  <a:schemeClr val="bg1"/>
                </a:solidFill>
              </a:rPr>
              <a:t>channel_contribs.values</a:t>
            </a:r>
            <a:r>
              <a:rPr lang="en-IN" sz="800" dirty="0">
                <a:solidFill>
                  <a:schemeClr val="bg1"/>
                </a:solidFill>
              </a:rPr>
              <a:t>())</a:t>
            </a:r>
          </a:p>
          <a:p>
            <a:r>
              <a:rPr lang="en-IN" sz="800" dirty="0" err="1">
                <a:solidFill>
                  <a:schemeClr val="bg1"/>
                </a:solidFill>
              </a:rPr>
              <a:t>base_contrib</a:t>
            </a:r>
            <a:r>
              <a:rPr lang="en-IN" sz="800" dirty="0">
                <a:solidFill>
                  <a:schemeClr val="bg1"/>
                </a:solidFill>
              </a:rPr>
              <a:t> = float(</a:t>
            </a:r>
            <a:r>
              <a:rPr lang="en-IN" sz="800" dirty="0" err="1">
                <a:solidFill>
                  <a:schemeClr val="bg1"/>
                </a:solidFill>
              </a:rPr>
              <a:t>full_fitted.sum</a:t>
            </a:r>
            <a:r>
              <a:rPr lang="en-IN" sz="800" dirty="0">
                <a:solidFill>
                  <a:schemeClr val="bg1"/>
                </a:solidFill>
              </a:rPr>
              <a:t>()) - </a:t>
            </a:r>
            <a:r>
              <a:rPr lang="en-IN" sz="800" dirty="0" err="1">
                <a:solidFill>
                  <a:schemeClr val="bg1"/>
                </a:solidFill>
              </a:rPr>
              <a:t>total_media</a:t>
            </a:r>
            <a:r>
              <a:rPr lang="en-IN" sz="800" dirty="0">
                <a:solidFill>
                  <a:schemeClr val="bg1"/>
                </a:solidFill>
              </a:rPr>
              <a:t> - </a:t>
            </a:r>
            <a:r>
              <a:rPr lang="en-IN" sz="800" dirty="0" err="1">
                <a:solidFill>
                  <a:schemeClr val="bg1"/>
                </a:solidFill>
              </a:rPr>
              <a:t>covid_contrib</a:t>
            </a:r>
            <a:r>
              <a:rPr lang="en-IN" sz="800" dirty="0">
                <a:solidFill>
                  <a:schemeClr val="bg1"/>
                </a:solidFill>
              </a:rPr>
              <a:t> - </a:t>
            </a:r>
            <a:r>
              <a:rPr lang="en-IN" sz="800" dirty="0" err="1">
                <a:solidFill>
                  <a:schemeClr val="bg1"/>
                </a:solidFill>
              </a:rPr>
              <a:t>festive_contrib</a:t>
            </a:r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>
                <a:solidFill>
                  <a:schemeClr val="bg1"/>
                </a:solidFill>
              </a:rPr>
              <a:t/>
            </a:r>
            <a:br>
              <a:rPr lang="en-IN" sz="800" dirty="0">
                <a:solidFill>
                  <a:schemeClr val="bg1"/>
                </a:solidFill>
              </a:rPr>
            </a:br>
            <a:r>
              <a:rPr lang="en-IN" sz="800" dirty="0">
                <a:solidFill>
                  <a:schemeClr val="bg1"/>
                </a:solidFill>
              </a:rPr>
              <a:t>print("\n=== FINAL CONTRIBUTION TABLE ===")</a:t>
            </a:r>
          </a:p>
          <a:p>
            <a:r>
              <a:rPr lang="en-IN" sz="800" dirty="0">
                <a:solidFill>
                  <a:schemeClr val="bg1"/>
                </a:solidFill>
              </a:rPr>
              <a:t>print(</a:t>
            </a:r>
            <a:r>
              <a:rPr lang="en-IN" sz="800" dirty="0" err="1">
                <a:solidFill>
                  <a:schemeClr val="bg1"/>
                </a:solidFill>
              </a:rPr>
              <a:t>f"Total</a:t>
            </a:r>
            <a:r>
              <a:rPr lang="en-IN" sz="800" dirty="0">
                <a:solidFill>
                  <a:schemeClr val="bg1"/>
                </a:solidFill>
              </a:rPr>
              <a:t> Actual Sales (4Y): ₹{total_actual:.2f} </a:t>
            </a:r>
            <a:r>
              <a:rPr lang="en-IN" sz="800" dirty="0" err="1">
                <a:solidFill>
                  <a:schemeClr val="bg1"/>
                </a:solidFill>
              </a:rPr>
              <a:t>Mn</a:t>
            </a:r>
            <a:r>
              <a:rPr lang="en-IN" sz="800" dirty="0">
                <a:solidFill>
                  <a:schemeClr val="bg1"/>
                </a:solidFill>
              </a:rPr>
              <a:t>")</a:t>
            </a:r>
          </a:p>
          <a:p>
            <a:r>
              <a:rPr lang="en-IN" sz="800" dirty="0">
                <a:solidFill>
                  <a:schemeClr val="bg1"/>
                </a:solidFill>
              </a:rPr>
              <a:t>print(</a:t>
            </a:r>
            <a:r>
              <a:rPr lang="en-IN" sz="800" dirty="0" err="1">
                <a:solidFill>
                  <a:schemeClr val="bg1"/>
                </a:solidFill>
              </a:rPr>
              <a:t>f"Model</a:t>
            </a:r>
            <a:r>
              <a:rPr lang="en-IN" sz="800" dirty="0">
                <a:solidFill>
                  <a:schemeClr val="bg1"/>
                </a:solidFill>
              </a:rPr>
              <a:t> Fit: R²={model.rsquared:.3f}, </a:t>
            </a:r>
            <a:r>
              <a:rPr lang="en-IN" sz="800" dirty="0" err="1">
                <a:solidFill>
                  <a:schemeClr val="bg1"/>
                </a:solidFill>
              </a:rPr>
              <a:t>Adj</a:t>
            </a:r>
            <a:r>
              <a:rPr lang="en-IN" sz="800" dirty="0">
                <a:solidFill>
                  <a:schemeClr val="bg1"/>
                </a:solidFill>
              </a:rPr>
              <a:t> R²={model.rsquared_adj:.3f}, DW={dw:.3f}")</a:t>
            </a:r>
          </a:p>
          <a:p>
            <a:r>
              <a:rPr lang="en-IN" sz="800" dirty="0">
                <a:solidFill>
                  <a:schemeClr val="bg1"/>
                </a:solidFill>
              </a:rPr>
              <a:t>print(f"\</a:t>
            </a:r>
            <a:r>
              <a:rPr lang="en-IN" sz="800" dirty="0" err="1">
                <a:solidFill>
                  <a:schemeClr val="bg1"/>
                </a:solidFill>
              </a:rPr>
              <a:t>nBase</a:t>
            </a:r>
            <a:r>
              <a:rPr lang="en-IN" sz="800" dirty="0">
                <a:solidFill>
                  <a:schemeClr val="bg1"/>
                </a:solidFill>
              </a:rPr>
              <a:t> (</a:t>
            </a:r>
            <a:r>
              <a:rPr lang="en-IN" sz="800" dirty="0" err="1">
                <a:solidFill>
                  <a:schemeClr val="bg1"/>
                </a:solidFill>
              </a:rPr>
              <a:t>Intercept+Trend+Distribution</a:t>
            </a:r>
            <a:r>
              <a:rPr lang="en-IN" sz="800" dirty="0">
                <a:solidFill>
                  <a:schemeClr val="bg1"/>
                </a:solidFill>
              </a:rPr>
              <a:t>): ₹{base_contrib:.2f} </a:t>
            </a:r>
            <a:r>
              <a:rPr lang="en-IN" sz="800" dirty="0" err="1">
                <a:solidFill>
                  <a:schemeClr val="bg1"/>
                </a:solidFill>
              </a:rPr>
              <a:t>Mn</a:t>
            </a:r>
            <a:r>
              <a:rPr lang="en-IN" sz="800" dirty="0">
                <a:solidFill>
                  <a:schemeClr val="bg1"/>
                </a:solidFill>
              </a:rPr>
              <a:t> ({</a:t>
            </a:r>
            <a:r>
              <a:rPr lang="en-IN" sz="800" dirty="0" err="1">
                <a:solidFill>
                  <a:schemeClr val="bg1"/>
                </a:solidFill>
              </a:rPr>
              <a:t>base_contrib</a:t>
            </a:r>
            <a:r>
              <a:rPr lang="en-IN" sz="800" dirty="0">
                <a:solidFill>
                  <a:schemeClr val="bg1"/>
                </a:solidFill>
              </a:rPr>
              <a:t>/</a:t>
            </a:r>
            <a:r>
              <a:rPr lang="en-IN" sz="800" dirty="0" err="1">
                <a:solidFill>
                  <a:schemeClr val="bg1"/>
                </a:solidFill>
              </a:rPr>
              <a:t>total_actual</a:t>
            </a:r>
            <a:r>
              <a:rPr lang="en-IN" sz="800" dirty="0">
                <a:solidFill>
                  <a:schemeClr val="bg1"/>
                </a:solidFill>
              </a:rPr>
              <a:t>*100:.1f}%)")</a:t>
            </a:r>
          </a:p>
          <a:p>
            <a:r>
              <a:rPr lang="en-IN" sz="800" dirty="0">
                <a:solidFill>
                  <a:schemeClr val="bg1"/>
                </a:solidFill>
              </a:rPr>
              <a:t>print(</a:t>
            </a:r>
            <a:r>
              <a:rPr lang="en-IN" sz="800" dirty="0" err="1">
                <a:solidFill>
                  <a:schemeClr val="bg1"/>
                </a:solidFill>
              </a:rPr>
              <a:t>f"Festive</a:t>
            </a:r>
            <a:r>
              <a:rPr lang="en-IN" sz="800" dirty="0">
                <a:solidFill>
                  <a:schemeClr val="bg1"/>
                </a:solidFill>
              </a:rPr>
              <a:t> Season Uplift: ₹{festive_contrib:.2f} </a:t>
            </a:r>
            <a:r>
              <a:rPr lang="en-IN" sz="800" dirty="0" err="1">
                <a:solidFill>
                  <a:schemeClr val="bg1"/>
                </a:solidFill>
              </a:rPr>
              <a:t>Mn</a:t>
            </a:r>
            <a:r>
              <a:rPr lang="en-IN" sz="800" dirty="0">
                <a:solidFill>
                  <a:schemeClr val="bg1"/>
                </a:solidFill>
              </a:rPr>
              <a:t> ({</a:t>
            </a:r>
            <a:r>
              <a:rPr lang="en-IN" sz="800" dirty="0" err="1">
                <a:solidFill>
                  <a:schemeClr val="bg1"/>
                </a:solidFill>
              </a:rPr>
              <a:t>festive_contrib</a:t>
            </a:r>
            <a:r>
              <a:rPr lang="en-IN" sz="800" dirty="0">
                <a:solidFill>
                  <a:schemeClr val="bg1"/>
                </a:solidFill>
              </a:rPr>
              <a:t>/</a:t>
            </a:r>
            <a:r>
              <a:rPr lang="en-IN" sz="800" dirty="0" err="1">
                <a:solidFill>
                  <a:schemeClr val="bg1"/>
                </a:solidFill>
              </a:rPr>
              <a:t>total_actual</a:t>
            </a:r>
            <a:r>
              <a:rPr lang="en-IN" sz="800" dirty="0">
                <a:solidFill>
                  <a:schemeClr val="bg1"/>
                </a:solidFill>
              </a:rPr>
              <a:t>*100:.1f}%)")</a:t>
            </a:r>
          </a:p>
          <a:p>
            <a:r>
              <a:rPr lang="en-IN" sz="800" dirty="0">
                <a:solidFill>
                  <a:schemeClr val="bg1"/>
                </a:solidFill>
              </a:rPr>
              <a:t>for 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, </a:t>
            </a:r>
            <a:r>
              <a:rPr lang="en-IN" sz="800" dirty="0" err="1">
                <a:solidFill>
                  <a:schemeClr val="bg1"/>
                </a:solidFill>
              </a:rPr>
              <a:t>val</a:t>
            </a:r>
            <a:r>
              <a:rPr lang="en-IN" sz="800" dirty="0">
                <a:solidFill>
                  <a:schemeClr val="bg1"/>
                </a:solidFill>
              </a:rPr>
              <a:t> in </a:t>
            </a:r>
            <a:r>
              <a:rPr lang="en-IN" sz="800" dirty="0" err="1">
                <a:solidFill>
                  <a:schemeClr val="bg1"/>
                </a:solidFill>
              </a:rPr>
              <a:t>channel_contribs.items</a:t>
            </a:r>
            <a:r>
              <a:rPr lang="en-IN" sz="800" dirty="0">
                <a:solidFill>
                  <a:schemeClr val="bg1"/>
                </a:solidFill>
              </a:rPr>
              <a:t>():</a:t>
            </a:r>
          </a:p>
          <a:p>
            <a:r>
              <a:rPr lang="en-IN" sz="800" dirty="0">
                <a:solidFill>
                  <a:schemeClr val="bg1"/>
                </a:solidFill>
              </a:rPr>
              <a:t>    print(f"{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}: ₹{val:.2f} </a:t>
            </a:r>
            <a:r>
              <a:rPr lang="en-IN" sz="800" dirty="0" err="1">
                <a:solidFill>
                  <a:schemeClr val="bg1"/>
                </a:solidFill>
              </a:rPr>
              <a:t>Mn</a:t>
            </a:r>
            <a:r>
              <a:rPr lang="en-IN" sz="800" dirty="0">
                <a:solidFill>
                  <a:schemeClr val="bg1"/>
                </a:solidFill>
              </a:rPr>
              <a:t> ({</a:t>
            </a:r>
            <a:r>
              <a:rPr lang="en-IN" sz="800" dirty="0" err="1">
                <a:solidFill>
                  <a:schemeClr val="bg1"/>
                </a:solidFill>
              </a:rPr>
              <a:t>val</a:t>
            </a:r>
            <a:r>
              <a:rPr lang="en-IN" sz="800" dirty="0">
                <a:solidFill>
                  <a:schemeClr val="bg1"/>
                </a:solidFill>
              </a:rPr>
              <a:t>/</a:t>
            </a:r>
            <a:r>
              <a:rPr lang="en-IN" sz="800" dirty="0" err="1">
                <a:solidFill>
                  <a:schemeClr val="bg1"/>
                </a:solidFill>
              </a:rPr>
              <a:t>total_actual</a:t>
            </a:r>
            <a:r>
              <a:rPr lang="en-IN" sz="800" dirty="0">
                <a:solidFill>
                  <a:schemeClr val="bg1"/>
                </a:solidFill>
              </a:rPr>
              <a:t>*100:.1f}%) | Spend=₹{spends[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]:.1f}</a:t>
            </a:r>
            <a:r>
              <a:rPr lang="en-IN" sz="800" dirty="0" err="1">
                <a:solidFill>
                  <a:schemeClr val="bg1"/>
                </a:solidFill>
              </a:rPr>
              <a:t>Mn</a:t>
            </a:r>
            <a:r>
              <a:rPr lang="en-IN" sz="800" dirty="0">
                <a:solidFill>
                  <a:schemeClr val="bg1"/>
                </a:solidFill>
              </a:rPr>
              <a:t> | ROI={</a:t>
            </a:r>
            <a:r>
              <a:rPr lang="en-IN" sz="800" dirty="0" err="1">
                <a:solidFill>
                  <a:schemeClr val="bg1"/>
                </a:solidFill>
              </a:rPr>
              <a:t>roi_dict</a:t>
            </a:r>
            <a:r>
              <a:rPr lang="en-IN" sz="800" dirty="0">
                <a:solidFill>
                  <a:schemeClr val="bg1"/>
                </a:solidFill>
              </a:rPr>
              <a:t>[</a:t>
            </a:r>
            <a:r>
              <a:rPr lang="en-IN" sz="800" dirty="0" err="1">
                <a:solidFill>
                  <a:schemeClr val="bg1"/>
                </a:solidFill>
              </a:rPr>
              <a:t>ch</a:t>
            </a:r>
            <a:r>
              <a:rPr lang="en-IN" sz="800" dirty="0">
                <a:solidFill>
                  <a:schemeClr val="bg1"/>
                </a:solidFill>
              </a:rPr>
              <a:t>]:.2f}x")</a:t>
            </a:r>
          </a:p>
          <a:p>
            <a:r>
              <a:rPr lang="en-IN" sz="800" dirty="0">
                <a:solidFill>
                  <a:schemeClr val="bg1"/>
                </a:solidFill>
              </a:rPr>
              <a:t>print(</a:t>
            </a:r>
            <a:r>
              <a:rPr lang="en-IN" sz="800" dirty="0" err="1">
                <a:solidFill>
                  <a:schemeClr val="bg1"/>
                </a:solidFill>
              </a:rPr>
              <a:t>f"COVID</a:t>
            </a:r>
            <a:r>
              <a:rPr lang="en-IN" sz="800" dirty="0">
                <a:solidFill>
                  <a:schemeClr val="bg1"/>
                </a:solidFill>
              </a:rPr>
              <a:t> Loss: ₹{covid_contrib:.2f} </a:t>
            </a:r>
            <a:r>
              <a:rPr lang="en-IN" sz="800" dirty="0" err="1">
                <a:solidFill>
                  <a:schemeClr val="bg1"/>
                </a:solidFill>
              </a:rPr>
              <a:t>Mn</a:t>
            </a:r>
            <a:r>
              <a:rPr lang="en-IN" sz="800" dirty="0">
                <a:solidFill>
                  <a:schemeClr val="bg1"/>
                </a:solidFill>
              </a:rPr>
              <a:t> ({</a:t>
            </a:r>
            <a:r>
              <a:rPr lang="en-IN" sz="800" dirty="0" err="1">
                <a:solidFill>
                  <a:schemeClr val="bg1"/>
                </a:solidFill>
              </a:rPr>
              <a:t>covid_contrib</a:t>
            </a:r>
            <a:r>
              <a:rPr lang="en-IN" sz="800" dirty="0">
                <a:solidFill>
                  <a:schemeClr val="bg1"/>
                </a:solidFill>
              </a:rPr>
              <a:t>/</a:t>
            </a:r>
            <a:r>
              <a:rPr lang="en-IN" sz="800" dirty="0" err="1">
                <a:solidFill>
                  <a:schemeClr val="bg1"/>
                </a:solidFill>
              </a:rPr>
              <a:t>total_actual</a:t>
            </a:r>
            <a:r>
              <a:rPr lang="en-IN" sz="800" dirty="0">
                <a:solidFill>
                  <a:schemeClr val="bg1"/>
                </a:solidFill>
              </a:rPr>
              <a:t>*100:.1f}%)")</a:t>
            </a:r>
          </a:p>
          <a:p>
            <a:endParaRPr lang="en-IN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Defence — Why the GRP-based OLS Model is Superior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key technical and business reasons this specification outperforms alternatives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15568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5778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94360" cy="1737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GRP Fixes the TV Coefficient Issue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508760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TV spend was high in 2019–20 (lower sales era) and declined as the brand grew — creating a spurious negative coefficient. Switching to TV GRP (Gross Rating Points, i.e. reach × frequency) captures true advertising EXPOSURE rather than spend, correctly reflecting TV's role in brand equity.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55778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051560"/>
            <a:ext cx="59436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5448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03720" y="1143000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 = 0.935 — Highest Among All Variants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1508760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explains 93.5% of variance in monthly sales. The adjusted R² of 0.919 confirms this isn't inflated by redundant variables. F-statistic of 57.4 (p&lt;0.001) proves the model is statistically significant as a whole.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55778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594360" cy="17373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2900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017520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= 1.81 — No Autocorrelation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383280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Durbin-Watson between 1.5–2.5 indicates residuals are independent. This is critical for OLS validity. Models 1 and 3 showed DW concerns; adding the trend variable and COVID dummy properly addresses time-series effects without relying on a lagged dependent variable.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2926080"/>
            <a:ext cx="55778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926080"/>
            <a:ext cx="594360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42900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3017520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VIFs &lt; 5 — Clean Multicollinearity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3383280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variable exceeds VIF of 4.0. Model 2's lag variable had VIF ~10, absorbing signal from other channels and reducing interpretability. The final model is econometrically clean and coefficients are individually interpretable.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800600"/>
            <a:ext cx="55778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800600"/>
            <a:ext cx="594360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530352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4892040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MAPE = 5.9% — Excellent Forecast Accuracy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5257800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Absolute Percentage Error under 10% is industry standard for MMM. At 5.9%, this model provides reliable revenue forecasting capability — useful for future scenario planning and budget simulations.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4800600"/>
            <a:ext cx="55778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4800600"/>
            <a:ext cx="594360" cy="17373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530352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03720" y="4892040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 Preserved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5257800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Festive dummy (Oct–Dec) captures Q4 uplift. COVID dummy isolates the exogenous shock. Adstock decay rates are channel-appropriate (TV: 0.5, Digital: 0.4, Trade: 0.2). Log transforms correctly model diminishing returns — consistent with marketing theory.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6583680"/>
            <a:ext cx="11567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Verdict: The GRP-based OLS model is the best combination of statistical rigor, business interpretability, and predictive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Contributions &amp; ROI by Channel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Counterfactual method: If zero spend, how much sales would be lost? | 4-Year Total (2019–2022)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15568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 ROI — ₹ Revenue per ₹ Spent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141732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024128"/>
            <a:ext cx="59436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09728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4-Year Channel Performance Summary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035040" y="1417320"/>
          <a:ext cx="5989320" cy="3785616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280160"/>
                <a:gridCol w="914400"/>
                <a:gridCol w="86868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Revenue Contr.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ROI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 of Total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Digital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₹385M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₹2,965M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7.70x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13.8%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Trade Promo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₹437M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₹800M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</a:rPr>
                        <a:t>1.83x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3.7%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Consumer Promo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₹175M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₹196M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</a:rPr>
                        <a:t>1.12x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TV (GRP)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₹664M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₹431M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0.65x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Newspaper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₹87M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–₹37M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–0.42x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–0.2%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Base (Org.+Trend+Dist)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₹17,100M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79.8%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COVID Shock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–₹285M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–1.3%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Festive Uplift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</a:rPr>
                        <a:t>₹690M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5897880"/>
            <a:ext cx="11567160" cy="77724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8640" y="5961888"/>
            <a:ext cx="11247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 Key Insight: Digital delivers 7.7x ROI — highest by far. TV and Newspaper operate below break-even ROI=1x based on short-run contribution. Base/organic factors drive 79.8% of total revenue — underlining the importance of distribution expansion.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Budget Allocation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 spend toward proven ROI channels | Based on 4-year MMM evidence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15568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685800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vs Recommended Budget Allocation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1417320"/>
          <a:ext cx="6766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360920" y="1024128"/>
            <a:ext cx="4572000" cy="107899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52360" y="10789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001000" y="105156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 Boost Digital to 40%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01000" y="1408176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ROI at 7.7x. FB/IG and YouTube are top sub-channels. Every ₹1 returns ₹7.70.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60920" y="2231136"/>
            <a:ext cx="4572000" cy="1078992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52360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📺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001000" y="225856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Reduce TV to 25%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01000" y="2615184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Short-run ROI = 0.65x (below break-even). TV builds brand equity — retain for reach but cap spend.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60920" y="3438144"/>
            <a:ext cx="4572000" cy="1078992"/>
          </a:xfrm>
          <a:prstGeom prst="rect">
            <a:avLst/>
          </a:prstGeom>
          <a:solidFill>
            <a:srgbClr val="E0F2F1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452360" y="34930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001000" y="346557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Maintain Trade Promo at 25%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01000" y="3822192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ROI = 1.83x — above break-even, strong in-store pull. Critical to sustain distribution gains.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60920" y="4645152"/>
            <a:ext cx="4572000" cy="107899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452360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001000" y="4672584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Cut Newspaper to 2%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01000" y="50292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contribution (–0.42x ROI). Minimal reach impact. Reallocate budget to digital.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360920" y="5852160"/>
            <a:ext cx="4480560" cy="88507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452360" y="59070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001000" y="587959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Consumer Promo → 8%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001000" y="6236208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ROI = 1.12x — marginal. Keep for price-sensitive segments but don't over-invest.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Detailed Budget Strategy &amp; Implementation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Phased reallocation with expected revenue impact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15568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115671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Phased Budget Reallocation Plan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65760" y="1417320"/>
          <a:ext cx="11750040" cy="2852928"/>
        </p:xfrm>
        <a:graphic>
          <a:graphicData uri="http://schemas.openxmlformats.org/drawingml/2006/table">
            <a:tbl>
              <a:tblPr/>
              <a:tblGrid>
                <a:gridCol w="1691640"/>
                <a:gridCol w="1005840"/>
                <a:gridCol w="1371600"/>
                <a:gridCol w="1097280"/>
                <a:gridCol w="3840480"/>
                <a:gridCol w="274320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Current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Recommended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₹ Change Direction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Expected Revenue Impact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TV (GRP)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↓ –13%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ROI 0.65x. Maintain for brand equity but cap short-run spend. Use GRP targets.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Neutral short-run; protects brand health long-run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Digital (FB/IG, YouTube)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</a:rPr>
                        <a:t>↑ +18%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ROI 7.7x. Highest efficiency. Scale FB/IG + YouTube, grow programmatic.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↑ +₹800–1,200M incremental revenue/year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Trade Promo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</a:rPr>
                        <a:t>= No change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ROI 1.83x. Effective for distribution activation. Sustain current levels.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Maintains current sales pull-through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Consumer Promo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↓ –2%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ROI 1.12x marginal. Maintain for price-sensitive SKUs; reduce blanket discounting.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Minor revenue neutral, saves ₹35M/year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Newspaper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↓ –3%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ROI –0.42x. Negative contribution. Exit except for launches/key markets.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Saves ₹52M; minimal revenue loss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663440"/>
            <a:ext cx="37033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4663440"/>
            <a:ext cx="37033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6634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Short-term (Q1–Q2)</a:t>
            </a:r>
            <a:endParaRPr lang="en-US" sz="1150" dirty="0"/>
          </a:p>
        </p:txBody>
      </p:sp>
      <p:sp>
        <p:nvSpPr>
          <p:cNvPr id="7" name="Text 8"/>
          <p:cNvSpPr/>
          <p:nvPr/>
        </p:nvSpPr>
        <p:spPr>
          <a:xfrm>
            <a:off x="502920" y="5120640"/>
            <a:ext cx="342900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 10% of TV budget to Digital immediately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A/B test FB/IG campaign scaling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 incremental sales lift digitally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Cut newspaper to 2% — redirected to Digital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97680" y="4663440"/>
            <a:ext cx="37033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4663440"/>
            <a:ext cx="37033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34840" y="46634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Medium-term (Q3–Q4)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434840" y="5120640"/>
            <a:ext cx="342900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 Digital to 35–40% of budget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 programmatic retargeting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Festival season (Oct–Dec): increase Trade Promo +5%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GRP targets for TV, not just spend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29600" y="4663440"/>
            <a:ext cx="37033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0" y="4663440"/>
            <a:ext cx="3703320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46634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Long-term (Year 2+)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366760" y="5120640"/>
            <a:ext cx="342900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Digital at 40%+ of total budget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 in distribution expansion (highest base driver)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MMM re-run annually with fresh data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attribution model for digital sub-channels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Marketing Mix Modelling — KPL Brand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703320" cy="2423160"/>
          </a:xfrm>
          <a:prstGeom prst="rect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0120" y="14173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Brand with 22% YoY growth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35204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sales grew from ~₹3,800M in 2019 to ₹5,900M in 2022. Distribution expansion and time trend are the dominant base drivers (79.8% of sales).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703320" cy="2423160"/>
          </a:xfrm>
          <a:prstGeom prst="rect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41732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is the Star — ROI 7.7x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07408" y="1920240"/>
            <a:ext cx="35204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rupee invested in Digital (YouTube, FB/IG, Google Display) returns ₹7.70. This is far ahead of any other paid media channel. Scale aggressively.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1325880"/>
            <a:ext cx="3703320" cy="2423160"/>
          </a:xfrm>
          <a:prstGeom prst="rect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41732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823960" y="14173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TV has brand value, not short-run sales ROI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39328" y="1920240"/>
            <a:ext cx="35204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GRP-based model correctly identifies TV's awareness role. Short-run ROI = 0.65x (below break-even). TV should be maintained at a reduced 25% share for equity, not sales conversion.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3703320" cy="2423160"/>
          </a:xfrm>
          <a:prstGeom prst="rect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2336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0120" y="40233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Exit Newspaper Advertising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4526280"/>
            <a:ext cx="35204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ROI of –0.42x. The channel contributes to revenue decline, not growth. Reallocate the ₹87M saved over 4 years entirely to Digital.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3931920"/>
            <a:ext cx="3703320" cy="2423160"/>
          </a:xfrm>
          <a:prstGeom prst="rect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402336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92040" y="40233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OLS Model: R²=0.935, No Autocorrelation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07408" y="4526280"/>
            <a:ext cx="35204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GRP-based OLS model with festive dummy and COVID control explains 93.5% of variance. Durbin-Watson 1.81 confirms no autocorrelation. MAPE 5.9% shows excellent forecast accuracy.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0" y="3931920"/>
            <a:ext cx="3703320" cy="2423160"/>
          </a:xfrm>
          <a:prstGeom prst="rect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402336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823960" y="40233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Recommended: Digital 40%, TV 25%, Trade 25%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39328" y="4526280"/>
            <a:ext cx="35204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Reallocating 13% from TV to Digital could generate ₹800–1,200M in incremental annual revenue. Maintain Trade Promo; cut Consumer Promo and Newspaper to fund digital growth.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2663</Words>
  <Application>Microsoft Office PowerPoint</Application>
  <PresentationFormat>Custom</PresentationFormat>
  <Paragraphs>612</Paragraphs>
  <Slides>15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KPL Sales — Marketing Mix Modelling</dc:title>
  <dc:subject>PptxGenJS Presentation</dc:subject>
  <dc:creator>ABANTIKA</dc:creator>
  <cp:lastModifiedBy>ABANTIKA</cp:lastModifiedBy>
  <cp:revision>17</cp:revision>
  <dcterms:created xsi:type="dcterms:W3CDTF">2026-05-15T16:18:00Z</dcterms:created>
  <dcterms:modified xsi:type="dcterms:W3CDTF">2026-05-17T07:44:27Z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898EACC3E0CA4CD5AABAAEA397E23E09_12</vt:lpwstr>
  </property>
</Properties>
</file>